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SLIDE CONTROL: Brad advances; Wesley operates demo. Full introduction over slides 1–2, target 6 minutes, room to 8. Demo target 0:16–0:36. Homepage slide 16; final lab slide 17 at 0:41; questions 0:49–1:00.</a:t>
            </a:r>
          </a:p>
          <a:p>
            <a:r>
              <a:t/>
            </a:r>
          </a:p>
          <a:p>
            <a:r>
              <a:t>On screen: Title, names, event.</a:t>
            </a:r>
          </a:p>
          <a:p>
            <a:r>
              <a:t/>
            </a:r>
          </a:p>
          <a:p>
            <a:r>
              <a:t>HOLD SLIDE 1: Tell the complete beginning, including the inspection struggle. Allow roughly 3–5 minutes. Look at the audience; no slide change is needed for the school, OCR, or inspection beats.</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ADVANCE TO SLIDE 2 after: “I proposed that we build it ourselves.” Let that sentence land, then introduce the company context before telling them what happened to the proposal.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1816, Lonoke 1969, NEXT. Use the timeline as the setting for your story.</a:t>
            </a:r>
          </a:p>
          <a:p>
            <a:r>
              <a:t/>
            </a:r>
          </a:p>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Brad, transition: “That history carries responsibility, because this is real manufacturing.”</a:t>
            </a:r>
          </a:p>
          <a:p>
            <a:r>
              <a:t/>
            </a:r>
          </a:p>
          <a:p>
            <a:r>
              <a:t>ADVANCE TO SLIDE 4 after: “real manufacturing.”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Ammunition manufacturing, propellants and primers, moving machinery, real production.</a:t>
            </a:r>
          </a:p>
          <a:p>
            <a:r>
              <a:t/>
            </a:r>
          </a:p>
          <a:p>
            <a:r>
              <a:t>Cue: Real machinery, real operators, real consequences.</a:t>
            </a:r>
          </a:p>
          <a:p>
            <a:r>
              <a:t/>
            </a:r>
          </a:p>
          <a:p>
            <a:r>
              <a:t>Brad: “That was part of what made those inspection projects so challenging. We work around energetic materials and moving machinery. That makes timing, clear information, and recovery part of the engineering problem. We build with operators, maintenance, quality, and safety. The software has to fit their workflow and the established safeguards.”</a:t>
            </a:r>
          </a:p>
          <a:p>
            <a:r>
              <a:t/>
            </a:r>
          </a:p>
          <a:p>
            <a:r>
              <a:t>Brad, transition: “So what does it take for software to reach that floor?”</a:t>
            </a:r>
          </a:p>
          <a:p>
            <a:r>
              <a:t/>
            </a:r>
          </a:p>
          <a:p>
            <a:r>
              <a:t>ADVANCE TO SLIDE 5 after: “reach that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SENSE / DECIDE / ACT. Connect each word to the whole system you had to build.</a:t>
            </a:r>
          </a:p>
          <a:p>
            <a:r>
              <a:t/>
            </a:r>
          </a:p>
          <a:p>
            <a:r>
              <a:t>Cue: Capture, inference, decision, response.</a:t>
            </a:r>
          </a:p>
          <a:p>
            <a:r>
              <a:t/>
            </a:r>
          </a:p>
          <a:p>
            <a:r>
              <a:t>Brad: “When we proposed building it ourselves, this was the whole problem we were taking on.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a:p>
            <a:r>
              <a:t/>
            </a:r>
          </a:p>
          <a:p>
            <a:r>
              <a:t>Brad, transition: “You can see that same pattern across our work.”</a:t>
            </a:r>
          </a:p>
          <a:p>
            <a:r>
              <a:t/>
            </a:r>
          </a:p>
          <a:p>
            <a:r>
              <a:t>ADVANCE TO SLIDE 6 after: “across our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Two production inspection systems and two other capabilities. Give the room a brief map.</a:t>
            </a:r>
          </a:p>
          <a:p>
            <a:r>
              <a:t/>
            </a:r>
          </a:p>
          <a:p>
            <a:r>
              <a:t>Cue: Two live inspection systems, two broader capabilities. Finish this context block by about 0:10.</a:t>
            </a:r>
          </a:p>
          <a:p>
            <a:r>
              <a:t/>
            </a:r>
          </a:p>
          <a:p>
            <a:r>
              <a:t>Brad: “That approach now connects the different kinds of work we do.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a:p>
            <a:r>
              <a:t/>
            </a:r>
          </a:p>
          <a:p>
            <a:r>
              <a:t>Brad, transition: “Start with centerfire inspection and what building that capability involves.”</a:t>
            </a:r>
          </a:p>
          <a:p>
            <a:r>
              <a:t/>
            </a:r>
          </a:p>
          <a:p>
            <a:r>
              <a:t>ADVANCE TO SLIDE 7 after: the centerfire introduction. Finish this overview around 0:10.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Image capture, inference, a usable result, and earning trust. Explain what building our own involves.</a:t>
            </a:r>
          </a:p>
          <a:p>
            <a:r>
              <a:t/>
            </a:r>
          </a:p>
          <a:p>
            <a:r>
              <a:t>Cue: Vision pipeline, visible evidence, operator trust.</a:t>
            </a:r>
          </a:p>
          <a:p>
            <a:r>
              <a:t/>
            </a:r>
          </a:p>
          <a:p>
            <a:r>
              <a:t>Brad: “Here is what building our own system involves.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a:p>
            <a:r>
              <a:t/>
            </a:r>
          </a:p>
          <a:p>
            <a:r>
              <a:t>Brad, transition: “Carrying that tooling into another product still leaves a different engineering problem. Wesley, take shotshell.”</a:t>
            </a:r>
          </a:p>
          <a:p>
            <a:r>
              <a:t/>
            </a:r>
          </a:p>
          <a:p>
            <a:r>
              <a:t>ADVANCE TO SLIDE 8 after: “take shotshell.”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 different product, different data and view. Wesley explains why reuse still requires engineering.</a:t>
            </a:r>
          </a:p>
          <a:p>
            <a:r>
              <a:t/>
            </a:r>
          </a:p>
          <a:p>
            <a:r>
              <a:t>Cue: A different product changes the image and the data.</a:t>
            </a:r>
          </a:p>
          <a:p>
            <a:r>
              <a:t/>
            </a:r>
          </a:p>
          <a:p>
            <a:r>
              <a:t>Wesley: “One thing Remington Vision taught me is how much work happens before you even train the model. You have to figure out what the camera can actually see, collect useful examples, and label them consistently.”</a:t>
            </a:r>
          </a:p>
          <a:p>
            <a:r>
              <a:t/>
            </a:r>
          </a:p>
          <a:p>
            <a:r>
              <a:t>“When we move to a different product, those questions come up again. We can carry over the software and what we’ve learned, but we still have to get the images and testing right for that application.”</a:t>
            </a:r>
          </a:p>
          <a:p>
            <a:r>
              <a:t/>
            </a:r>
          </a:p>
          <a:p>
            <a:r>
              <a:t>“That’s something I enjoy about this work. Every problem we figure out gives us a better starting point for the next one—and there’s always something new to learn.”</a:t>
            </a:r>
          </a:p>
          <a:p>
            <a:r>
              <a:t/>
            </a:r>
          </a:p>
          <a:p>
            <a:r>
              <a:t>Wesley handback: Finish on “there’s always something new to learn.” Pause and look to Brad. Keep slide 8 visible until Brad's transition.</a:t>
            </a:r>
          </a:p>
          <a:p>
            <a:r>
              <a:t/>
            </a:r>
          </a:p>
          <a:p>
            <a:r>
              <a:t>Brad: “These are the problems we face on the floor”</a:t>
            </a:r>
          </a:p>
          <a:p>
            <a:r>
              <a:t/>
            </a:r>
          </a:p>
          <a:p>
            <a:r>
              <a:t>ADVANCE TO SLIDE 9 after: “These are the problems we face on the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Public discussion, themes, source links. Brief overview; no optional live insert is enabled.</a:t>
            </a:r>
          </a:p>
          <a:p>
            <a:r>
              <a:t/>
            </a:r>
          </a:p>
          <a:p>
            <a:r>
              <a:t>Cue: Collect, score, retain the source.</a:t>
            </a:r>
          </a:p>
          <a:p>
            <a:r>
              <a:t/>
            </a:r>
          </a:p>
          <a:p>
            <a:r>
              <a:t>Brad: “The same need to turn information into a useful decision also shows up away from the production line.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a:p>
            <a:r>
              <a:t/>
            </a:r>
          </a:p>
          <a:p>
            <a:r>
              <a:t>Brad, transition: “Public comments are one source. Our own project documents are another. Wesley?”</a:t>
            </a:r>
          </a:p>
          <a:p>
            <a:r>
              <a:t/>
            </a:r>
          </a:p>
          <a:p>
            <a:r>
              <a:t>ADVANCE TO SLIDE 10 after: “Wesley?”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Project documents, retrieval, citations, local model, scoped tools. Brief overview.</a:t>
            </a:r>
          </a:p>
          <a:p>
            <a:r>
              <a:t/>
            </a:r>
          </a:p>
          <a:p>
            <a:r>
              <a:t>Cue: Retrieve project material, generate an answer, check the source.</a:t>
            </a:r>
          </a:p>
          <a:p>
            <a:r>
              <a:t/>
            </a:r>
          </a:p>
          <a:p>
            <a:r>
              <a:t>Wesley: “Another kind of information we work with is project documentation.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a:p>
            <a:r>
              <a:t/>
            </a:r>
          </a:p>
          <a:p>
            <a:r>
              <a:t>Brad, transition: “Those are the projects. The part that keeps us interested is getting to carry an idea into use.”</a:t>
            </a:r>
          </a:p>
          <a:p>
            <a:r>
              <a:t/>
            </a:r>
          </a:p>
          <a:p>
            <a:r>
              <a:t>ADVANCE TO SLIDE 11 after: “carry an idea into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Variety, freedom, ownership, growth. This is where Wesley tells his real-reject moment.</a:t>
            </a:r>
          </a:p>
          <a:p>
            <a:r>
              <a:t/>
            </a:r>
          </a:p>
          <a:p>
            <a:r>
              <a:t>Cue: Variety, freedom, ownership, and a real result. Demo at 0:16.</a:t>
            </a:r>
          </a:p>
          <a:p>
            <a:r>
              <a:t/>
            </a:r>
          </a:p>
          <a:p>
            <a:r>
              <a:t>Brad: “We have shown you the kinds of work. Wesley, what do you enjoy most about actually doing it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“Brad started calling that dented shell his child. I remember him being happy about it for a week straight.”</a:t>
            </a:r>
          </a:p>
          <a:p>
            <a:r>
              <a:t/>
            </a:r>
          </a:p>
          <a:p>
            <a:r>
              <a:t>Delivery: Pause for the laugh, then finish the ownership thought.</a:t>
            </a:r>
          </a:p>
          <a:p>
            <a:r>
              <a:t/>
            </a:r>
          </a:p>
          <a:p>
            <a:r>
              <a:t>“Following ideas through and seeing people get invested feels like helping pave the way for Remington. I enjoy figuring it out.”</a:t>
            </a:r>
          </a:p>
          <a:p>
            <a:r>
              <a:t/>
            </a:r>
          </a:p>
          <a:p>
            <a:r>
              <a:t>Brad: “Let's show that connection between an image, a decision, and a visible result.”</a:t>
            </a:r>
          </a:p>
          <a:p>
            <a:r>
              <a:t/>
            </a:r>
          </a:p>
          <a:p>
            <a:r>
              <a:t>ADVANCE TO SLIDE 12 after: “a visible result.” Target 0:16. Keep Wesley's real-reject moment here so it lands once.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CAMERA → AI → ACTION and Gatorade bottles. Hold this while framing the demo, then switch applications.</a:t>
            </a:r>
          </a:p>
          <a:p>
            <a:r>
              <a:t/>
            </a:r>
          </a:p>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Application cue: Show slide 12 for the opening, then say, “Wesley, let's look at it.” Switch to the rehearsed demo application before the baseline.</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a:p>
            <a:r>
              <a:t/>
            </a:r>
          </a:p>
          <a:p>
            <a:r>
              <a:t>RETURN TO THE DECK AT SLIDE 13 after the demo transition. Do not move through the sentiment or Remi slides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Variation, timing, reliability. Return here from the application after the demo.</a:t>
            </a:r>
          </a:p>
          <a:p>
            <a:r>
              <a:t/>
            </a:r>
          </a:p>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a:p>
            <a:r>
              <a:t/>
            </a:r>
          </a:p>
          <a:p>
            <a:r>
              <a:t>Brad, transition: “Working through those problems takes people with different skills. That is where the next person can come in.”</a:t>
            </a:r>
          </a:p>
          <a:p>
            <a:r>
              <a:t/>
            </a:r>
          </a:p>
          <a:p>
            <a:r>
              <a:t>ADVANCE TO SLIDE 14 after: “the next person can come 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Mechanical, controls, software, testing. Tie the invitation to how Brad and Wesley started.</a:t>
            </a:r>
          </a:p>
          <a:p>
            <a:r>
              <a:t/>
            </a:r>
          </a:p>
          <a:p>
            <a:r>
              <a:t>Cue: Mechanical, controls, software, and testing. Close before the two final QR slides.</a:t>
            </a:r>
          </a:p>
          <a:p>
            <a:r>
              <a:t/>
            </a:r>
          </a:p>
          <a:p>
            <a:r>
              <a:t>Brad: “I started as a mechanical engineering intern trying to solve a problem I did not understand. Wesley started through software and machine prototyping. Building the next generation of manufacturing needs people from all of those directions. These problems cross mechanical engineering, controls, software, and testing. We want people who will follow a problem from the first question through deployment and improvement. Tell us what you have built and what you want to take on next.”</a:t>
            </a:r>
          </a:p>
          <a:p>
            <a:r>
              <a:t/>
            </a:r>
          </a:p>
          <a:p>
            <a:r>
              <a:t>Brad, transition: “If that sounds like the kind of work you want to do, come talk to us.”</a:t>
            </a:r>
          </a:p>
          <a:p>
            <a:r>
              <a:t/>
            </a:r>
          </a:p>
          <a:p>
            <a:r>
              <a:t>ADVANCE TO SLIDE 15 after: “come talk to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Interactive lab QR, URL, and PIN 877262. Hold through the activity and open questions.</a:t>
            </a:r>
          </a:p>
          <a:p>
            <a:r>
              <a:t/>
            </a:r>
          </a:p>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HOLD SLIDE 17: Keep the QR, URL, and PIN visible during the activity and questions. No further slide change.</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introduction, interview-notification and GPIO story, dented-shell moment, next-application lesson, reliability examples, and closing invitation. His new story wording is retained. The original worksheet used an earlier slide order; these memories now belong to slides 2, 11, and 8 respectively. The GPIO and relay account is a personal recollection, not equipment instructions or a claim about the event demo's hardware.</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Homepage QR and 4founders.dev. Pause for people to scan.</a:t>
            </a:r>
          </a:p>
          <a:p>
            <a:r>
              <a:t/>
            </a:r>
          </a:p>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a:p>
            <a:r>
              <a:t/>
            </a:r>
          </a:p>
          <a:p>
            <a:r>
              <a:t>ADVANCE TO SLIDE 17 after: “straight to the interactive demo.” Allow time for the homepage scan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Factory-floor closing message and bdaugherty@tkghunt.com and wsiharath@tkghunt.com. Close the story before the QR slides.</a:t>
            </a:r>
          </a:p>
          <a:p>
            <a:r>
              <a:t/>
            </a:r>
          </a:p>
          <a:p>
            <a:r>
              <a:t>Cue: bdaugherty@tkghunt.com and wsiharath@tkghunt.com, questions, internship, and ideas. Close the story by about 0:40, before the homepage and lab QR slides.</a:t>
            </a:r>
          </a:p>
          <a:p>
            <a:r>
              <a:t/>
            </a:r>
          </a:p>
          <a:p>
            <a:r>
              <a:t>Brad: “Reach me at bdaugherty@tkghunt.com, and Wesley at wsiharath@tkghunt.com.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“For me, this started with a rough OCR application and a problem I could not solve. Then we got the chance to try, and I called Wesley. That is what I hope you take from our story: you can start while you are still learning, find people to build with, and keep working until the result is useful to someone else. Our history was made on the factory floor. The future will be, too. Come help us bring AI into real work and build the next generation of manufacturing.”</a:t>
            </a:r>
          </a:p>
          <a:p>
            <a:r>
              <a:t/>
            </a:r>
          </a:p>
          <a:p>
            <a:r>
              <a:t/>
            </a:r>
          </a:p>
          <a:p>
            <a:r>
              <a:t>Bridge: “Before we finish, here are two ways to keep exploring.”</a:t>
            </a:r>
          </a:p>
          <a:p>
            <a:r>
              <a:t/>
            </a:r>
          </a:p>
          <a:p>
            <a:r>
              <a:t>ADVANCE TO SLIDE 16 after: “two ways to keep exploring.” Aim to close the personal story around 0:40.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CSG brand, Prague headquarters, 1995 origins, main industries, and TKG membership in Ammo+.</a:t>
            </a:r>
          </a:p>
          <a:p>
            <a:r>
              <a:t/>
            </a:r>
          </a:p>
          <a:p>
            <a:r>
              <a:t>HOLD SLIDE 2: Briefly explain who CSG is, then continue the approval story and hand off to Wesley. Keep this slide visible through his introduction, interview memory, and GPIO story. Target the end of the opening around 0:06; up to 0:08 is workable.</a:t>
            </a:r>
          </a:p>
          <a:p>
            <a:r>
              <a:t/>
            </a:r>
          </a:p>
          <a:p>
            <a:r>
              <a:t>Brad: “Before I tell you what happened to that proposal, this is where CSG fits. CSG stands for Czechoslovak Group. It is a global industrial and technology group headquartered in Prague, in the Czech Republic. Its roots go back to Excalibur Army in 1995, and its businesses span defense, aerospace, and automotive industries. The Kinetic Group is part of CSG Ammo+,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Take it from here.”</a:t>
            </a:r>
          </a:p>
          <a:p>
            <a:r>
              <a:t/>
            </a:r>
          </a:p>
          <a:p>
            <a:r>
              <a:t>Wesley: “Hi, I’m Wesley Siharath. I’m an engineer here at Remington. I got started as an intern focused on software, with some prototyping on machines.”</a:t>
            </a:r>
          </a:p>
          <a:p>
            <a:r>
              <a:t/>
            </a:r>
          </a:p>
          <a:p>
            <a:r>
              <a:t>“I remember it was about eight at night, and I was stacking boxes when that interview notification came through.”</a:t>
            </a:r>
          </a:p>
          <a:p>
            <a:r>
              <a:t/>
            </a:r>
          </a:p>
          <a:p>
            <a:r>
              <a:t>“I looked at my phone and thought, ‘Thank God, I might actually get to use this degree.’ Hearing about the projects they were working on, I saw an opportunity. It sounded interesting and exciting, so I decided to charge headfirst into something I knew very little about.”</a:t>
            </a:r>
          </a:p>
          <a:p>
            <a:r>
              <a:t/>
            </a:r>
          </a:p>
          <a:p>
            <a:r>
              <a:t>“The first problem we tackled was GPIO. We didn’t realize the Jetson needed a patch, and then we had to figure out how to control a 24-volt relay from its low-voltage output. That was my introduction to making software actually work with a machine.”</a:t>
            </a:r>
          </a:p>
          <a:p>
            <a:r>
              <a:t/>
            </a:r>
          </a:p>
          <a:p>
            <a:r>
              <a:t>Delivery: Pause after “use this degree.” Let the room hear the turn from stacking boxes to building machines. Keep the GPIO memory at the level of the story; no wiring explanation is needed. If the acronym needs one short gloss, GPIO means the computer's input/output pins. Hold slide 2 throughout.</a:t>
            </a:r>
          </a:p>
          <a:p>
            <a:r>
              <a:t/>
            </a:r>
          </a:p>
          <a:p>
            <a:r>
              <a:t>Wesley: “I came on full time this February, and now I work on AI tools and machines. One of the things that drew me here was being able to build a solution and see it put to use on the floor.”</a:t>
            </a:r>
          </a:p>
          <a:p>
            <a:r>
              <a:t/>
            </a:r>
          </a:p>
          <a:p>
            <a:r>
              <a:t>Brad: “That is how the two of us got into this work. We were given a chance to turn an idea into something people could use on the floor. Our part in that story is recent. The manufacturing history we are building on goes back much further.”</a:t>
            </a:r>
          </a:p>
          <a:p>
            <a:r>
              <a:t/>
            </a:r>
          </a:p>
          <a:p>
            <a:r>
              <a:t>ADVANCE TO SLIDE 3 after: “goes back much further.”</a:t>
            </a:r>
          </a:p>
          <a:p>
            <a:r>
              <a:t/>
            </a:r>
          </a:p>
          <a:p>
            <a:r>
              <a:t>Sources for company context: CSG About Us (https://csg.com/en/about-us) (Prague headquarters, 1995 origins, industries); The Kinetic Group About Us (https://www.thekineticgroup.com/aboutus.html) (Ammo+ membership), checked October 22, 2026. Brand image supplied by Brad in this chat.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 Id="rIdCSGBrand" Type="http://schemas.openxmlformats.org/officeDocument/2006/relationships/image" Target="../media/csg_ammo_brand.png"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00625"/>
            <a:ext cx="7315200" cy="952500"/>
          </a:xfrm>
          <a:prstGeom prst="rect">
            <a:avLst/>
          </a:prstGeom>
          <a:noFill/>
          <a:ln w="0">
            <a:noFill/>
            <a:prstDash val="solid"/>
          </a:ln>
        </p:spPr>
        <p:txBody>
          <a:bodyPr lIns="0" tIns="0" rIns="0" bIns="0"/>
          <a:lstStyle>
            <a:defPPr algn="ctr">
              <a:defRPr sz="24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400" b="1" i="0">
                <a:solidFill>
                  <a:srgbClr val="FFFFFF"/>
                </a:solidFill>
              </a:defRPr>
            </a:pPr>
            <a:r>
              <a:rPr sz="2400" b="1" i="0">
                <a:solidFill>
                  <a:srgbClr val="FFFFFF"/>
                </a:solidFill>
              </a:rPr>
              <a:t>bdaugherty@tkghunt.com</a:t>
            </a:r>
          </a:p>
          <a:p>
            <a:pPr algn="ctr">
              <a:buNone/>
              <a:defRPr sz="2400" b="1" i="0">
                <a:solidFill>
                  <a:srgbClr val="FFFFFF"/>
                </a:solidFill>
              </a:defRPr>
            </a:pPr>
            <a:r>
              <a:rPr sz="2400" b="1" i="0">
                <a:solidFill>
                  <a:srgbClr val="FFFFFF"/>
                </a:solidFill>
              </a:rPr>
              <a:t>wsiharath@tkghunt.com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504950"/>
            <a:ext cx="7734300" cy="609600"/>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Czechoslovak Group (CSG)</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667000"/>
            <a:ext cx="4762500" cy="838200"/>
          </a:xfrm>
          <a:prstGeom prst="rect">
            <a:avLst/>
          </a:prstGeom>
          <a:noFill/>
          <a:ln w="0">
            <a:noFill/>
            <a:prstDash val="solid"/>
          </a:ln>
        </p:spPr>
        <p:txBody>
          <a:bodyPr lIns="0" tIns="0" rIns="0" bIns="0"/>
          <a:lstStyle>
            <a:defPPr algn="l">
              <a:defRPr sz="2400" b="1" i="0">
                <a:solidFill>
                  <a:srgbClr val="BBA16B"/>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400" b="1" i="0">
                <a:solidFill>
                  <a:srgbClr val="BBA16B"/>
                </a:solidFill>
              </a:defRPr>
            </a:pPr>
            <a:r>
              <a:rPr sz="2400" b="1" i="0">
                <a:solidFill>
                  <a:srgbClr val="BBA16B"/>
                </a:solidFill>
              </a:rPr>
              <a:t>Global industrial and</a:t>
            </a:r>
          </a:p>
          <a:p>
            <a:pPr algn="l">
              <a:buNone/>
              <a:defRPr sz="2400" b="1" i="0">
                <a:solidFill>
                  <a:srgbClr val="BBA16B"/>
                </a:solidFill>
              </a:defRPr>
            </a:pPr>
            <a:r>
              <a:rPr sz="2400" b="1" i="0">
                <a:solidFill>
                  <a:srgbClr val="BBA16B"/>
                </a:solidFill>
              </a:rPr>
              <a:t>technology group</a:t>
            </a:r>
          </a:p>
        </p:txBody>
      </p:sp>
      <p:sp>
        <p:nvSpPr>
          <p:cNvPr id="4" name="">
            <a:extLst>
              <a:ext uri="{FF2B5EF4-FFF2-40B4-BE49-F238E27FC236}">
                <ns2:creationId id="{A34BA23E-0CD2-4E38-8F37-7AAB56C38762}"/>
              </a:ext>
            </a:extLst>
          </p:cNvPr>
          <p:cNvSpPr>
            <a:spLocks noGrp="1"/>
          </p:cNvSpPr>
          <p:nvPr/>
        </p:nvSpPr>
        <p:spPr>
          <a:xfrm>
            <a:off x="723900" y="37909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Headquartered in Prague, Czech Republic</a:t>
            </a:r>
          </a:p>
        </p:txBody>
      </p:sp>
      <p:sp>
        <p:nvSpPr>
          <p:cNvPr id="5" name="">
            <a:extLst>
              <a:ext uri="{FF2B5EF4-FFF2-40B4-BE49-F238E27FC236}">
                <ns2:creationId id="{74EF2072-0F5B-4869-B3C8-B8EF0150DF55}"/>
              </a:ext>
            </a:extLst>
          </p:cNvPr>
          <p:cNvSpPr>
            <a:spLocks noGrp="1"/>
          </p:cNvSpPr>
          <p:nvPr/>
        </p:nvSpPr>
        <p:spPr>
          <a:xfrm>
            <a:off x="723900" y="430530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1950" b="0" i="0">
                <a:solidFill>
                  <a:srgbClr val="FFFFFF"/>
                </a:solidFill>
              </a:defRPr>
            </a:pPr>
            <a:r>
              <a:rPr sz="1950" b="0" i="0">
                <a:solidFill>
                  <a:srgbClr val="FFFFFF"/>
                </a:solidFill>
              </a:rPr>
              <a:t>Origins in 1995 with Excalibur Army</a:t>
            </a:r>
          </a:p>
        </p:txBody>
      </p:sp>
      <p:sp>
        <p:nvSpPr>
          <p:cNvPr id="6" name="">
            <a:extLst>
              <a:ext uri="{FF2B5EF4-FFF2-40B4-BE49-F238E27FC236}">
                <ns2:creationId id="{578E9F30-B97B-4D21-9887-533D7D1E5D39}"/>
              </a:ext>
            </a:extLst>
          </p:cNvPr>
          <p:cNvSpPr>
            <a:spLocks noGrp="1"/>
          </p:cNvSpPr>
          <p:nvPr/>
        </p:nvSpPr>
        <p:spPr>
          <a:xfrm>
            <a:off x="723900" y="48196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Defense, aerospace and automotive businesses</a:t>
            </a:r>
          </a:p>
        </p:txBody>
      </p:sp>
      <p:sp>
        <p:nvSpPr>
          <p:cNvPr id="9" name="">
            <a:extLst>
              <a:ext uri="{FF2B5EF4-FFF2-40B4-BE49-F238E27FC236}">
                <ns2:creationId id="{EFEC76D1-80FD-4BC8-AFC9-1E585F89C1B7}"/>
              </a:ext>
            </a:extLst>
          </p:cNvPr>
          <p:cNvSpPr>
            <a:spLocks noGrp="1"/>
          </p:cNvSpPr>
          <p:nvPr/>
        </p:nvSpPr>
        <p:spPr>
          <a:xfrm>
            <a:off x="723900" y="5629275"/>
            <a:ext cx="7715250" cy="428625"/>
          </a:xfrm>
          <a:prstGeom prst="rect">
            <a:avLst/>
          </a:prstGeom>
          <a:noFill/>
          <a:ln w="0">
            <a:noFill/>
            <a:prstDash val="solid"/>
          </a:ln>
        </p:spPr>
        <p:txBody>
          <a:bodyPr lIns="0" tIns="0" rIns="0" bIns="0"/>
          <a:lstStyle>
            <a:defPPr algn="l">
              <a:defRPr sz="22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250" b="1" i="0">
                <a:solidFill>
                  <a:srgbClr val="FFFFFF"/>
                </a:solidFill>
              </a:defRPr>
            </a:pPr>
            <a:r>
              <a:rPr sz="2250" b="1" i="0">
                <a:solidFill>
                  <a:srgbClr val="FFFFFF"/>
                </a:solidFill>
              </a:rPr>
              <a:t>The Kinetic Group is part of CSG Ammo+.</a:t>
            </a:r>
          </a:p>
        </p:txBody>
      </p:sp>
      <p:pic>
        <p:nvPicPr>
          <p:cNvPr id="90" name="">
            <a:extLst>
              <a:ext uri="{FF2B5EF4-FFF2-40B4-BE49-F238E27FC236}">
                <ns2:creationId id="{93296FAB-E45C-431A-A0B6-521D97F80EE2}"/>
              </a:ext>
            </a:extLst>
          </p:cNvPr>
          <p:cNvPicPr>
            <a:picLocks noChangeAspect="1"/>
          </p:cNvPicPr>
          <p:nvPr/>
        </p:nvPicPr>
        <p:blipFill>
          <a:blip r:embed="rIdCSGBrand"/>
          <a:stretch/>
        </p:blipFill>
        <p:spPr>
          <a:xfrm>
            <a:off x="5781717" y="2647950"/>
            <a:ext cx="2657392" cy="836390"/>
          </a:xfrm>
          <a:prstGeom prst="rect">
            <a:avLst/>
          </a:prstGeom>
        </p:spPr>
      </p:pic>
    </p:spTree>
    <p:extLst>
      <p:ext uri="{BB962C8B-B14F-4D97-AF65-F5344CB8AC3E}">
        <ns4: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