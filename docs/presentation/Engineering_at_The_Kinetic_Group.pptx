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0" r:id="R0258f44c2015421b"/>
    <p:sldId id="271" r:id="Ra26a4f3e169947ab"/>
    <p:sldId id="272" r:id="R28b51150d6be414c"/>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Brad advances slides and watches the clock. Story: their foundation, our engineering, a real result, reliability others can trust.</a:t>
            </a:r>
          </a:p>
          <a:p>
            <a:r>
              <a:t/>
            </a:r>
          </a:p>
          <a:p>
            <a:r>
              <a:t>Cue: Introductions, internship, and work reaching the floor.</a:t>
            </a:r>
          </a:p>
          <a:p>
            <a:r>
              <a:t/>
            </a:r>
          </a:p>
          <a:p>
            <a:r>
              <a:t>Brad: “I am Brad Daugherty. I am an electrical engineer at Remington. I work mostly at the Lonoke site but do support projects across our organization. I’m here with Wesley Siharath, who helped start our Remington Vision work. Wesley, tell everyone a little about yourself and how you got started here.”</a:t>
            </a:r>
          </a:p>
          <a:p>
            <a:r>
              <a:t/>
            </a:r>
          </a:p>
          <a:p>
            <a:r>
              <a:t>Wesley: “Hi, I’m Wesley Siharath. I’m an engineer here at Remington. I got started as an intern focused on software, with some prototyping on machines.”</a:t>
            </a:r>
          </a:p>
          <a:p>
            <a:r>
              <a:t/>
            </a:r>
          </a:p>
          <a:p>
            <a:r>
              <a:t>“I came on full time this February, and now I work on AI tools and machines. One of the things that drew me here was being able to build a solution and see it put to use on the floor.”</a:t>
            </a:r>
          </a:p>
          <a:p>
            <a:r>
              <a:t/>
            </a:r>
          </a:p>
          <a:p>
            <a:r>
              <a:t>Brad: “That is the story we want to show: how software becomes something useful on the floor, and what it takes to keep it working.”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Real machinery, real operators, real consequences.</a:t>
            </a:r>
          </a:p>
          <a:p>
            <a:r>
              <a:t/>
            </a:r>
          </a:p>
          <a:p>
            <a:r>
              <a:t>Brad: “We work around energetic materials and moving machinery. That makes timing, clear information, and recovery part of the engineering problem. We build with operators, maintenance, quality, and safety. The software has to fit their workflow and the established safeguards.”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Capture, inference, decision, response.</a:t>
            </a:r>
          </a:p>
          <a:p>
            <a:r>
              <a:t/>
            </a:r>
          </a:p>
          <a:p>
            <a:r>
              <a:t>Brad: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Two live inspection systems, two broader capabilities. Finish by 0:05.</a:t>
            </a:r>
          </a:p>
          <a:p>
            <a:r>
              <a:t/>
            </a:r>
          </a:p>
          <a:p>
            <a:r>
              <a:t>Brad: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Vision pipeline, visible evidence, operator trust.</a:t>
            </a:r>
          </a:p>
          <a:p>
            <a:r>
              <a:t/>
            </a:r>
          </a:p>
          <a:p>
            <a:r>
              <a:t>Brad: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 different product changes the image and the data.</a:t>
            </a:r>
          </a:p>
          <a:p>
            <a:r>
              <a:t/>
            </a:r>
          </a:p>
          <a:p>
            <a:r>
              <a:t>Wesley: “A different product creates a different visual problem. We have to check the camera view, the examples used to train and test the model, and how the result fits the line. We carry the tooling forward, then validate the application in its own conditions.”</a:t>
            </a:r>
          </a:p>
          <a:p>
            <a:r>
              <a:t/>
            </a:r>
          </a:p>
          <a:p>
            <a:r>
              <a:t>Brad: “This is also live and being refined. Reusing software still leaves real integration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Collect, score, retain the source.</a:t>
            </a:r>
          </a:p>
          <a:p>
            <a:r>
              <a:t/>
            </a:r>
          </a:p>
          <a:p>
            <a:r>
              <a:t>Brad: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Retrieve project material, generate an answer, check the source.</a:t>
            </a:r>
          </a:p>
          <a:p>
            <a:r>
              <a:t/>
            </a:r>
          </a:p>
          <a:p>
            <a:r>
              <a:t>Wesley: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Variety, freedom, ownership, and a real result. Demo at 0:12.</a:t>
            </a:r>
          </a:p>
          <a:p>
            <a:r>
              <a:t/>
            </a:r>
          </a:p>
          <a:p>
            <a:r>
              <a:t>Brad: “Wesley, what do you enjoy most about working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“Following ideas through and seeing people get invested feels like helping pave the way for Remington. I enjoy figuring it out.”</a:t>
            </a:r>
          </a:p>
          <a:p>
            <a:r>
              <a:t/>
            </a:r>
          </a:p>
          <a:p>
            <a:r>
              <a:t>Brad: “Let's show that connection between an image, a decision, and a visible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Detection, color prediction, track, decision, one variation. 0:12–0:32.</a:t>
            </a:r>
          </a:p>
          <a:p>
            <a:r>
              <a:t/>
            </a:r>
          </a:p>
          <a:p>
            <a:r>
              <a:t>Before the event: Rehearse the exact application build, camera, two bottles, and one variation. The repository's standard mode uses YOLOX bottle detection and a trained color model.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We detect the bottle, associate evidence with its track, and apply a color rule to produce an on-screen sort decision. First, predict the result. Then we will change one condition and look at what happened.”</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12 by 0:32.</a:t>
            </a:r>
          </a:p>
          <a:p>
            <a:r>
              <a:t/>
            </a:r>
          </a:p>
          <a:p>
            <a:r>
              <a:t>Recovery: Show the camera view and last successful result. Ask what the audience would inspect first. Move on within two minutes. Optional barcodes and physical motion are outside the core sequence.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Mechanical, controls, software, and testing. Activity at 0:35.</a:t>
            </a:r>
          </a:p>
          <a:p>
            <a:r>
              <a:t/>
            </a:r>
          </a:p>
          <a:p>
            <a:r>
              <a:t>Brad: “These problems cross mechanical engineering, controls, software, and testing. We want people who will follow a problem from the first question through deployment and improvement. Tell us what you have built and what you want to take on next.”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Scan, PIN, try, share. 0:35–0:43.</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Problem, affected person, first experiment.</a:t>
            </a:r>
          </a:p>
          <a:p>
            <a:r>
              <a:t/>
            </a:r>
          </a:p>
          <a:p>
            <a:r>
              <a:t>Brad: “Your idea may go beyond the projects we showed. Tell us the problem, who it affects, and what you want to try. If there is a fit, let us explore it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awhite@tkghunt.com, questions, internship, and ideas. Hold for questions at 0:44.</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“The generations before us built the foundation. We want to build what the next generation can stand on. Our history was made on the factory floor. The future will be, too. Come build and fight with us. Turn AI into action.”</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four personal sections; his wording is retained.</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fd39fc787fa44984" /><Relationship Type="http://schemas.openxmlformats.org/officeDocument/2006/relationships/notesSlide" Target="/ppt/notesSlides/notesSlide16.xml" Id="R79165e16f80a40a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xmlns:a="http://schemas.openxmlformats.org/drawingml/2006/main">
            <a:pPr algn="ctr">
              <a:buNone/>
              <a:defRPr sz="4125" b="0" i="0">
                <a:solidFill>
                  <a:srgbClr val="FFFFFF"/>
                </a:solidFill>
              </a:defRPr>
            </a:pPr>
            <a:r>
              <a:rPr sz="4125" b="0" i="0">
                <a:solidFill>
                  <a:srgbClr val="FFFFFF"/>
                </a:solidFill>
              </a:rPr>
              <a:t>Engineering at</a:t>
            </a:r>
          </a:p>
          <a:p xmlns:a="http://schemas.openxmlformats.org/drawingml/2006/main">
            <a:pPr algn="ctr">
              <a:buNone/>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xmlns:a="http://schemas.openxmlformats.org/drawingml/2006/main">
            <a:pPr algn="ctr">
              <a:buNone/>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xmlns:a="http://schemas.openxmlformats.org/drawingml/2006/main">
            <a:pPr algn="ctr">
              <a:buNone/>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Keep writing the rules for decades to come.</a:t>
            </a:r>
          </a:p>
        </p:txBody>
      </p:sp>
      <p:sp>
        <p:nvSpPr>
          <p:cNvPr id="11" name="">
            <a:extLst xmlns:a="http://schemas.openxmlformats.org/drawingml/2006/main">
              <a:ext uri="{FF2B5EF4-FFF2-40B4-BE49-F238E27FC236}">
                <a16:creationId xmlns:a16="http://schemas.microsoft.com/office/drawing/2014/main" id="{4F10A49B-1807-4AE6-B554-7F74A182FBB9}"/>
              </a:ext>
            </a:extLst>
          </p:cNvPr>
          <p:cNvSpPr>
            <a:spLocks xmlns:a="http://schemas.openxmlformats.org/drawingml/2006/main" noGrp="1"/>
          </p:cNvSpPr>
          <p:nvPr/>
        </p:nvSpPr>
        <p:spPr>
          <a:xfrm xmlns:a="http://schemas.openxmlformats.org/drawingml/2006/main">
            <a:off x="723900" y="4429125"/>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D22FF75-5B25-47DA-9C89-F014C4B1A03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stakes are real</a:t>
            </a:r>
          </a:p>
        </p:txBody>
      </p:sp>
      <p:sp>
        <p:nvSpPr>
          <p:cNvPr id="2" name="">
            <a:extLst xmlns:a="http://schemas.openxmlformats.org/drawingml/2006/main">
              <a:ext uri="{FF2B5EF4-FFF2-40B4-BE49-F238E27FC236}">
                <a16:creationId xmlns:a16="http://schemas.microsoft.com/office/drawing/2014/main" id="{9617ED25-3782-4F93-B42D-EB969BFB6419}"/>
              </a:ext>
            </a:extLst>
          </p:cNvPr>
          <p:cNvSpPr>
            <a:spLocks xmlns:a="http://schemas.openxmlformats.org/drawingml/2006/main" noGrp="1"/>
          </p:cNvSpPr>
          <p:nvPr/>
        </p:nvSpPr>
        <p:spPr>
          <a:xfrm xmlns:a="http://schemas.openxmlformats.org/drawingml/2006/main">
            <a:off x="723900" y="2743200"/>
            <a:ext cx="781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xmlns:a="http://schemas.openxmlformats.org/drawingml/2006/main">
            <a:pPr algn="l">
              <a:defRPr sz="3225" b="1" i="0">
                <a:solidFill>
                  <a:srgbClr val="BEA06A"/>
                </a:solidFill>
              </a:defRPr>
            </a:pPr>
            <a:r>
              <a:rPr sz="3225" b="1" i="0">
                <a:solidFill>
                  <a:srgbClr val="BEA06A"/>
                </a:solidFill>
              </a:rPr>
              <a:t>Ammunition manufacturing</a:t>
            </a:r>
          </a:p>
        </p:txBody>
      </p:sp>
      <p:sp>
        <p:nvSpPr>
          <p:cNvPr id="3" name="">
            <a:extLst xmlns:a="http://schemas.openxmlformats.org/drawingml/2006/main">
              <a:ext uri="{FF2B5EF4-FFF2-40B4-BE49-F238E27FC236}">
                <a16:creationId xmlns:a16="http://schemas.microsoft.com/office/drawing/2014/main" id="{8BA32C32-AFFD-404C-81BF-4A0718BF792A}"/>
              </a:ext>
            </a:extLst>
          </p:cNvPr>
          <p:cNvSpPr>
            <a:spLocks xmlns:a="http://schemas.openxmlformats.org/drawingml/2006/main" noGrp="1"/>
          </p:cNvSpPr>
          <p:nvPr/>
        </p:nvSpPr>
        <p:spPr>
          <a:xfrm xmlns:a="http://schemas.openxmlformats.org/drawingml/2006/main">
            <a:off x="723900" y="3714750"/>
            <a:ext cx="781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xmlns:a="http://schemas.openxmlformats.org/drawingml/2006/main">
            <a:pPr algn="l">
              <a:defRPr sz="2250" b="0" i="0">
                <a:solidFill>
                  <a:srgbClr val="FFFFFF"/>
                </a:solidFill>
              </a:defRPr>
            </a:pPr>
            <a:r>
              <a:rPr sz="2250" b="0" i="0">
                <a:solidFill>
                  <a:srgbClr val="FFFFFF"/>
                </a:solidFill>
              </a:rPr>
              <a:t>Propellants and primers. Moving machinery.</a:t>
            </a:r>
          </a:p>
          <a:p xmlns:a="http://schemas.openxmlformats.org/drawingml/2006/main">
            <a:pPr algn="l">
              <a:defRPr sz="2250" b="0" i="0">
                <a:solidFill>
                  <a:srgbClr val="FFFFFF"/>
                </a:solidFill>
              </a:defRPr>
            </a:pPr>
            <a:r>
              <a:rPr sz="2250" b="0" i="0">
                <a:solidFill>
                  <a:srgbClr val="FFFFFF"/>
                </a:solidFill>
              </a:rPr>
              <a:t>Real production.</a:t>
            </a:r>
          </a:p>
        </p:txBody>
      </p:sp>
      <p:sp>
        <p:nvSpPr>
          <p:cNvPr id="4" name="">
            <a:extLst xmlns:a="http://schemas.openxmlformats.org/drawingml/2006/main">
              <a:ext uri="{FF2B5EF4-FFF2-40B4-BE49-F238E27FC236}">
                <a16:creationId xmlns:a16="http://schemas.microsoft.com/office/drawing/2014/main" id="{867EFB6A-CFD9-4C2B-A4E4-A5FB7FD41BB8}"/>
              </a:ext>
            </a:extLst>
          </p:cNvPr>
          <p:cNvSpPr>
            <a:spLocks xmlns:a="http://schemas.openxmlformats.org/drawingml/2006/main" noGrp="1"/>
          </p:cNvSpPr>
          <p:nvPr/>
        </p:nvSpPr>
        <p:spPr>
          <a:xfrm xmlns:a="http://schemas.openxmlformats.org/drawingml/2006/main">
            <a:off x="723900" y="5314950"/>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xmlns:a="http://schemas.openxmlformats.org/drawingml/2006/main">
            <a:pPr algn="l">
              <a:defRPr sz="2325" b="1" i="0">
                <a:solidFill>
                  <a:srgbClr val="FFFFFF"/>
                </a:solidFill>
              </a:defRPr>
            </a:pPr>
            <a:r>
              <a:rPr sz="2325" b="1" i="0">
                <a:solidFill>
                  <a:srgbClr val="FFFFFF"/>
                </a:solidFill>
              </a:rPr>
              <a:t>Build with the people who rely on it.</a:t>
            </a:r>
          </a:p>
        </p:txBody>
      </p:sp>
      <p:sp>
        <p:nvSpPr>
          <p:cNvPr id="5" name="">
            <a:extLst xmlns:a="http://schemas.openxmlformats.org/drawingml/2006/main">
              <a:ext uri="{FF2B5EF4-FFF2-40B4-BE49-F238E27FC236}">
                <a16:creationId xmlns:a16="http://schemas.microsoft.com/office/drawing/2014/main" id="{A468379D-915A-4138-A97D-416741AE564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Tree>
    <p:extLst>
      <p:ext uri="{BB962C8B-B14F-4D97-AF65-F5344CB8AC3E}">
        <p14:creationId xmlns:p14="http://schemas.microsoft.com/office/powerpoint/2010/main" val="57625842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Machines capture</a:t>
            </a:r>
          </a:p>
          <a:p xmlns:a="http://schemas.openxmlformats.org/drawingml/2006/main">
            <a:pPr algn="l">
              <a:buNone/>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Software turns signals</a:t>
            </a:r>
          </a:p>
          <a:p xmlns:a="http://schemas.openxmlformats.org/drawingml/2006/main">
            <a:pPr algn="l">
              <a:buNone/>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People and equipment</a:t>
            </a:r>
          </a:p>
          <a:p xmlns:a="http://schemas.openxmlformats.org/drawingml/2006/main">
            <a:pPr algn="l">
              <a:buNone/>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p14:creationId xmlns:p14="http://schemas.microsoft.com/office/powerpoint/2010/main"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5</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10</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rPr>
              <a:t>4founders.dev/demo/ai-in-action/</a:t>
            </a:r>
          </a:p>
        </p:txBody>
      </p:sp>
      <p:pic>
        <p:nvPicPr>
          <p:cNvPr id="5" name="">
            <a:extLst>
              <a:ext uri="{FF2B5EF4-FFF2-40B4-BE49-F238E27FC236}">
                <ns2:creationId id="{17A57D48-9186-4AB0-A73C-9A9F9454AD3D}"/>
              </a:ext>
            </a:extLst>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7DA5FD-739D-4644-9148-F19D032919F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Bring us your idea</a:t>
            </a:r>
          </a:p>
        </p:txBody>
      </p:sp>
      <p:sp>
        <p:nvSpPr>
          <p:cNvPr id="2" name="">
            <a:extLst>
              <a:ext uri="{FF2B5EF4-FFF2-40B4-BE49-F238E27FC236}">
                <ns2:creationId id="{BF7AB287-9579-4376-952A-319BD45DDE1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56E2B49B-822B-4239-9D3F-90141AA845C0}"/>
              </a:ext>
            </a:extLst>
          </p:cNvPr>
          <p:cNvSpPr>
            <a:spLocks noGrp="1"/>
          </p:cNvSpPr>
          <p:nvPr/>
        </p:nvSpPr>
        <p:spPr>
          <a:xfrm>
            <a:off x="723900" y="2895600"/>
            <a:ext cx="7924800" cy="723900"/>
          </a:xfrm>
          <a:prstGeom prst="rect">
            <a:avLst/>
          </a:prstGeom>
          <a:noFill/>
          <a:ln w="0">
            <a:noFill/>
            <a:prstDash val="solid"/>
          </a:ln>
        </p:spPr>
        <p:txBody>
          <a:bodyPr lIns="0" tIns="0" rIns="0" bIns="0"/>
          <a:lstStyle>
            <a:defPPr algn="l">
              <a:defRPr sz="3450" b="1" i="0">
                <a:solidFill>
                  <a:srgbClr val="FFFFFF"/>
                </a:solidFill>
              </a:defRPr>
            </a:defPPr>
            <a:lvl1pPr algn="l">
              <a:buNone/>
              <a:defRPr sz="3450" b="1" i="0">
                <a:solidFill>
                  <a:srgbClr val="FFFFFF"/>
                </a:solidFill>
              </a:defRPr>
            </a:lvl1pPr>
            <a:lvl2pPr algn="l">
              <a:buNone/>
              <a:defRPr sz="3450" b="1" i="0">
                <a:solidFill>
                  <a:srgbClr val="FFFFFF"/>
                </a:solidFill>
              </a:defRPr>
            </a:lvl2pPr>
            <a:lvl3pPr algn="l">
              <a:buNone/>
              <a:defRPr sz="3450" b="1" i="0">
                <a:solidFill>
                  <a:srgbClr val="FFFFFF"/>
                </a:solidFill>
              </a:defRPr>
            </a:lvl3pPr>
            <a:lvl4pPr algn="l">
              <a:buNone/>
              <a:defRPr sz="3450" b="1" i="0">
                <a:solidFill>
                  <a:srgbClr val="FFFFFF"/>
                </a:solidFill>
              </a:defRPr>
            </a:lvl4pPr>
            <a:lvl5pPr algn="l">
              <a:buNone/>
              <a:defRPr sz="3450" b="1" i="0">
                <a:solidFill>
                  <a:srgbClr val="FFFFFF"/>
                </a:solidFill>
              </a:defRPr>
            </a:lvl5pPr>
            <a:lvl6pPr algn="l">
              <a:buNone/>
              <a:defRPr sz="3450" b="1" i="0">
                <a:solidFill>
                  <a:srgbClr val="FFFFFF"/>
                </a:solidFill>
              </a:defRPr>
            </a:lvl6pPr>
            <a:lvl7pPr algn="l">
              <a:buNone/>
              <a:defRPr sz="3450" b="1" i="0">
                <a:solidFill>
                  <a:srgbClr val="FFFFFF"/>
                </a:solidFill>
              </a:defRPr>
            </a:lvl7pPr>
            <a:lvl8pPr algn="l">
              <a:buNone/>
              <a:defRPr sz="3450" b="1" i="0">
                <a:solidFill>
                  <a:srgbClr val="FFFFFF"/>
                </a:solidFill>
              </a:defRPr>
            </a:lvl8pPr>
            <a:lvl9pPr algn="l">
              <a:buNone/>
              <a:defRPr sz="3450" b="1" i="0">
                <a:solidFill>
                  <a:srgbClr val="FFFFFF"/>
                </a:solidFill>
              </a:defRPr>
            </a:lvl9pPr>
          </a:lstStyle>
          <a:p>
            <a:pPr algn="l">
              <a:buNone/>
              <a:defRPr sz="3450" b="1" i="0">
                <a:solidFill>
                  <a:srgbClr val="FFFFFF"/>
                </a:solidFill>
              </a:defRPr>
            </a:pPr>
            <a:r>
              <a:rPr sz="3450" b="1" i="0">
                <a:solidFill>
                  <a:srgbClr val="FFFFFF"/>
                </a:solidFill>
              </a:rPr>
              <a:t>What do you want to pursue?</a:t>
            </a:r>
          </a:p>
        </p:txBody>
      </p:sp>
      <p:sp>
        <p:nvSpPr>
          <p:cNvPr id="4" name="">
            <a:extLst>
              <a:ext uri="{FF2B5EF4-FFF2-40B4-BE49-F238E27FC236}">
                <ns2:creationId id="{4CFBB8BB-8520-4CA8-A41E-07E3DB8946B4}"/>
              </a:ext>
            </a:extLst>
          </p:cNvPr>
          <p:cNvSpPr>
            <a:spLocks noGrp="1"/>
          </p:cNvSpPr>
          <p:nvPr/>
        </p:nvSpPr>
        <p:spPr>
          <a:xfrm>
            <a:off x="723900" y="4114800"/>
            <a:ext cx="7848600" cy="571500"/>
          </a:xfrm>
          <a:prstGeom prst="rect">
            <a:avLst/>
          </a:prstGeom>
          <a:noFill/>
          <a:ln w="0">
            <a:noFill/>
            <a:prstDash val="solid"/>
          </a:ln>
        </p:spPr>
        <p:txBody>
          <a:bodyPr lIns="0" tIns="0" rIns="0" bIns="0"/>
          <a:lstStyle>
            <a:defPPr algn="l">
              <a:defRPr sz="2100" b="0" i="0">
                <a:solidFill>
                  <a:srgbClr val="D5D8DA"/>
                </a:solidFill>
              </a:defRPr>
            </a:defPPr>
            <a:lvl1pPr algn="l">
              <a:buNone/>
              <a:defRPr sz="2100" b="0" i="0">
                <a:solidFill>
                  <a:srgbClr val="D5D8DA"/>
                </a:solidFill>
              </a:defRPr>
            </a:lvl1pPr>
            <a:lvl2pPr algn="l">
              <a:buNone/>
              <a:defRPr sz="2100" b="0" i="0">
                <a:solidFill>
                  <a:srgbClr val="D5D8DA"/>
                </a:solidFill>
              </a:defRPr>
            </a:lvl2pPr>
            <a:lvl3pPr algn="l">
              <a:buNone/>
              <a:defRPr sz="2100" b="0" i="0">
                <a:solidFill>
                  <a:srgbClr val="D5D8DA"/>
                </a:solidFill>
              </a:defRPr>
            </a:lvl3pPr>
            <a:lvl4pPr algn="l">
              <a:buNone/>
              <a:defRPr sz="2100" b="0" i="0">
                <a:solidFill>
                  <a:srgbClr val="D5D8DA"/>
                </a:solidFill>
              </a:defRPr>
            </a:lvl4pPr>
            <a:lvl5pPr algn="l">
              <a:buNone/>
              <a:defRPr sz="2100" b="0" i="0">
                <a:solidFill>
                  <a:srgbClr val="D5D8DA"/>
                </a:solidFill>
              </a:defRPr>
            </a:lvl5pPr>
            <a:lvl6pPr algn="l">
              <a:buNone/>
              <a:defRPr sz="2100" b="0" i="0">
                <a:solidFill>
                  <a:srgbClr val="D5D8DA"/>
                </a:solidFill>
              </a:defRPr>
            </a:lvl6pPr>
            <a:lvl7pPr algn="l">
              <a:buNone/>
              <a:defRPr sz="2100" b="0" i="0">
                <a:solidFill>
                  <a:srgbClr val="D5D8DA"/>
                </a:solidFill>
              </a:defRPr>
            </a:lvl7pPr>
            <a:lvl8pPr algn="l">
              <a:buNone/>
              <a:defRPr sz="2100" b="0" i="0">
                <a:solidFill>
                  <a:srgbClr val="D5D8DA"/>
                </a:solidFill>
              </a:defRPr>
            </a:lvl8pPr>
            <a:lvl9pPr algn="l">
              <a:buNone/>
              <a:defRPr sz="2100" b="0" i="0">
                <a:solidFill>
                  <a:srgbClr val="D5D8DA"/>
                </a:solidFill>
              </a:defRPr>
            </a:lvl9pPr>
          </a:lstStyle>
          <a:p>
            <a:pPr algn="l">
              <a:buNone/>
              <a:defRPr sz="2100" b="0" i="0">
                <a:solidFill>
                  <a:srgbClr val="D5D8DA"/>
                </a:solidFill>
              </a:defRPr>
            </a:pPr>
            <a:r>
              <a:rPr sz="2100" b="0" i="0">
                <a:solidFill>
                  <a:srgbClr val="D5D8DA"/>
                </a:solidFill>
              </a:rPr>
              <a:t>If there is a fit, let us explore it together.</a:t>
            </a:r>
          </a:p>
        </p:txBody>
      </p:sp>
      <p:sp>
        <p:nvSpPr>
          <p:cNvPr id="5" name="">
            <a:extLst>
              <a:ext uri="{FF2B5EF4-FFF2-40B4-BE49-F238E27FC236}">
                <ns2:creationId id="{1596F5A7-D059-44DA-A1C5-74978F5E65C4}"/>
              </a:ext>
            </a:extLst>
          </p:cNvPr>
          <p:cNvSpPr>
            <a:spLocks noGrp="1"/>
          </p:cNvSpPr>
          <p:nvPr/>
        </p:nvSpPr>
        <p:spPr>
          <a:xfrm>
            <a:off x="723900" y="5210175"/>
            <a:ext cx="7905750" cy="571500"/>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Let's start a conversation.</a:t>
            </a:r>
          </a:p>
        </p:txBody>
      </p:sp>
    </p:spTree>
    <p:extLst>
      <p:ext uri="{BB962C8B-B14F-4D97-AF65-F5344CB8AC3E}">
        <ns3:creationId val="50657743"/>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16</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