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0601e191a594e7a" /><Relationship Type="http://schemas.openxmlformats.org/officeDocument/2006/relationships/extended-properties" Target="/docProps/app.xml" Id="Rd82acc2ca98445ab" /><Relationship Type="http://schemas.openxmlformats.org/officeDocument/2006/relationships/officeDocument" Target="/ppt/presentation.xml" Id="Ra979c4b108284f61" /></Relationships>
</file>

<file path=ppt/presentation.xml><?xml version="1.0" encoding="utf-8"?>
<p:presentation xmlns:p="http://schemas.openxmlformats.org/presentationml/2006/main" embedTrueTypeFonts="1" saveSubsetFonts="1">
  <p:sldMasterIdLst>
    <p:sldMasterId xmlns:r="http://schemas.openxmlformats.org/officeDocument/2006/relationships" id="2147483648" r:id="Rab91db12fd854668"/>
  </p:sldMasterIdLst>
  <p:notesMasterIdLst>
    <p:notesMasterId xmlns:r="http://schemas.openxmlformats.org/officeDocument/2006/relationships" r:id="Rff7bd0f913c94223"/>
  </p:notesMasterIdLst>
  <p:sldIdLst>
    <p:sldId xmlns:r="http://schemas.openxmlformats.org/officeDocument/2006/relationships" id="256" r:id="R8b64e0487ef84c3d"/>
    <p:sldId xmlns:r="http://schemas.openxmlformats.org/officeDocument/2006/relationships" id="257" r:id="Rc20cc4902f214c4b"/>
    <p:sldId xmlns:r="http://schemas.openxmlformats.org/officeDocument/2006/relationships" id="258" r:id="R3bc0911fdf5546b4"/>
    <p:sldId xmlns:r="http://schemas.openxmlformats.org/officeDocument/2006/relationships" id="259" r:id="R426f273bf66045ed"/>
    <p:sldId xmlns:r="http://schemas.openxmlformats.org/officeDocument/2006/relationships" id="260" r:id="Rd82fe9b0a1344211"/>
    <p:sldId xmlns:r="http://schemas.openxmlformats.org/officeDocument/2006/relationships" id="261" r:id="R479fa96aacbf4db4"/>
    <p:sldId xmlns:r="http://schemas.openxmlformats.org/officeDocument/2006/relationships" id="262" r:id="R1d5aea35cfb3417e"/>
    <p:sldId xmlns:r="http://schemas.openxmlformats.org/officeDocument/2006/relationships" id="263" r:id="R5b47b6cd9fef4bb8"/>
    <p:sldId xmlns:r="http://schemas.openxmlformats.org/officeDocument/2006/relationships" id="264" r:id="R61b11b502e0541da"/>
    <p:sldId xmlns:r="http://schemas.openxmlformats.org/officeDocument/2006/relationships" id="265" r:id="R2dc71b158d624412"/>
    <p:sldId xmlns:r="http://schemas.openxmlformats.org/officeDocument/2006/relationships" id="266" r:id="Rd57aec5258cd44ab"/>
    <p:sldId xmlns:r="http://schemas.openxmlformats.org/officeDocument/2006/relationships" id="267" r:id="Rf72cb0ac2594476f"/>
    <p:sldId xmlns:r="http://schemas.openxmlformats.org/officeDocument/2006/relationships" id="268" r:id="R873f3c85cb164df9"/>
    <p:sldId xmlns:r="http://schemas.openxmlformats.org/officeDocument/2006/relationships" id="269" r:id="R7f7db8f3d1cd48e9"/>
    <p:sldId xmlns:r="http://schemas.openxmlformats.org/officeDocument/2006/relationships" id="270" r:id="R4d6a4f67563b4904"/>
    <p:sldId xmlns:r="http://schemas.openxmlformats.org/officeDocument/2006/relationships" id="271" r:id="R2e7d4f22a6d84934"/>
  </p:sldIdLst>
  <p:sldSz cx="9144000" cy="6858000"/>
  <p:notesSz cx="6858000" cy="9144000"/>
  <p:embeddedFontLst>
    <p:embeddedFont>
      <p:font typeface="Libre Franklin"/>
      <p:regular xmlns:r="http://schemas.openxmlformats.org/officeDocument/2006/relationships" r:id="R6c4b9d5eb60e4c03"/>
      <p:bold xmlns:r="http://schemas.openxmlformats.org/officeDocument/2006/relationships" r:id="R59c7b299b13a4847"/>
      <p:italic xmlns:r="http://schemas.openxmlformats.org/officeDocument/2006/relationships" r:id="R1d1d3a81773645e3"/>
      <p:boldItalic xmlns:r="http://schemas.openxmlformats.org/officeDocument/2006/relationships" r:id="R22a9ecb7de474e52"/>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9c071e4c099e4d1c" /><Relationship Type="http://schemas.openxmlformats.org/officeDocument/2006/relationships/slideMaster" Target="/ppt/slideMasters/slideMaster1.xml" Id="Rab91db12fd854668" /><Relationship Type="http://schemas.openxmlformats.org/officeDocument/2006/relationships/notesMaster" Target="/ppt/notesMasters/notesMaster1.xml" Id="Rff7bd0f913c94223" /><Relationship Type="http://schemas.openxmlformats.org/officeDocument/2006/relationships/presProps" Target="/ppt/presProps.xml" Id="R0eb8580996824234" /><Relationship Type="http://schemas.openxmlformats.org/officeDocument/2006/relationships/viewProps" Target="/ppt/viewProps.xml" Id="Rd1738250d10745ef" /><Relationship Type="http://schemas.openxmlformats.org/officeDocument/2006/relationships/tableStyles" Target="/ppt/tableStyles.xml" Id="R83de66ac28bc48f1" /><Relationship Type="http://schemas.openxmlformats.org/officeDocument/2006/relationships/font" Target="/ppt/fonts/font.dat" Id="R6c4b9d5eb60e4c03" /><Relationship Type="http://schemas.openxmlformats.org/officeDocument/2006/relationships/font" Target="/ppt/fonts/font2.dat" Id="R59c7b299b13a4847" /><Relationship Type="http://schemas.openxmlformats.org/officeDocument/2006/relationships/font" Target="/ppt/fonts/font3.dat" Id="R1d1d3a81773645e3" /><Relationship Type="http://schemas.openxmlformats.org/officeDocument/2006/relationships/font" Target="/ppt/fonts/font4.dat" Id="R22a9ecb7de474e52" /><Relationship Type="http://schemas.openxmlformats.org/officeDocument/2006/relationships/slide" Target="/ppt/slides/slide1.xml" Id="R8b64e0487ef84c3d" /><Relationship Type="http://schemas.openxmlformats.org/officeDocument/2006/relationships/slide" Target="/ppt/slides/slide2.xml" Id="Rc20cc4902f214c4b" /><Relationship Type="http://schemas.openxmlformats.org/officeDocument/2006/relationships/slide" Target="/ppt/slides/slide3.xml" Id="R3bc0911fdf5546b4" /><Relationship Type="http://schemas.openxmlformats.org/officeDocument/2006/relationships/slide" Target="/ppt/slides/slide4.xml" Id="R426f273bf66045ed" /><Relationship Type="http://schemas.openxmlformats.org/officeDocument/2006/relationships/slide" Target="/ppt/slides/slide5.xml" Id="Rd82fe9b0a1344211" /><Relationship Type="http://schemas.openxmlformats.org/officeDocument/2006/relationships/slide" Target="/ppt/slides/slide6.xml" Id="R479fa96aacbf4db4" /><Relationship Type="http://schemas.openxmlformats.org/officeDocument/2006/relationships/slide" Target="/ppt/slides/slide7.xml" Id="R1d5aea35cfb3417e" /><Relationship Type="http://schemas.openxmlformats.org/officeDocument/2006/relationships/slide" Target="/ppt/slides/slide8.xml" Id="R5b47b6cd9fef4bb8" /><Relationship Type="http://schemas.openxmlformats.org/officeDocument/2006/relationships/slide" Target="/ppt/slides/slide9.xml" Id="R61b11b502e0541da" /><Relationship Type="http://schemas.openxmlformats.org/officeDocument/2006/relationships/slide" Target="/ppt/slides/slide10.xml" Id="R2dc71b158d624412" /><Relationship Type="http://schemas.openxmlformats.org/officeDocument/2006/relationships/slide" Target="/ppt/slides/slide11.xml" Id="Rd57aec5258cd44ab" /><Relationship Type="http://schemas.openxmlformats.org/officeDocument/2006/relationships/slide" Target="/ppt/slides/slide12.xml" Id="Rf72cb0ac2594476f" /><Relationship Type="http://schemas.openxmlformats.org/officeDocument/2006/relationships/slide" Target="/ppt/slides/slide13.xml" Id="R873f3c85cb164df9" /><Relationship Type="http://schemas.openxmlformats.org/officeDocument/2006/relationships/slide" Target="/ppt/slides/slide14.xml" Id="R7f7db8f3d1cd48e9" /><Relationship Type="http://schemas.openxmlformats.org/officeDocument/2006/relationships/slide" Target="/ppt/slides/slide15.xml" Id="R4d6a4f67563b4904" /><Relationship Type="http://schemas.openxmlformats.org/officeDocument/2006/relationships/slide" Target="/ppt/slides/slide16.xml" Id="R2e7d4f22a6d8493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fd7494278e424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4182f18932450f" /><Relationship Type="http://schemas.openxmlformats.org/officeDocument/2006/relationships/notesMaster" Target="/ppt/notesMasters/notesMaster1.xml" Id="R038401521dca44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56c20676aa34e44" /><Relationship Type="http://schemas.openxmlformats.org/officeDocument/2006/relationships/notesMaster" Target="/ppt/notesMasters/notesMaster1.xml" Id="Rdf8b9f9b6fcc48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b5c5f6a9aa74271" /><Relationship Type="http://schemas.openxmlformats.org/officeDocument/2006/relationships/notesMaster" Target="/ppt/notesMasters/notesMaster1.xml" Id="R0e15a9de233a4e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41f6da72f4b4c18" /><Relationship Type="http://schemas.openxmlformats.org/officeDocument/2006/relationships/notesMaster" Target="/ppt/notesMasters/notesMaster1.xml" Id="R07f895bd1c6c40b4"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dc5c3022c842e5" /><Relationship Type="http://schemas.openxmlformats.org/officeDocument/2006/relationships/notesMaster" Target="/ppt/notesMasters/notesMaster1.xml" Id="Re993dba2c5824a5d" /></Relationships>
</file>

<file path=ppt/notesSlides/_rels/notesSlide6.xml.rels>&#65279;<?xml version="1.0" encoding="utf-8"?><Relationships xmlns="http://schemas.openxmlformats.org/package/2006/relationships"><Relationship Type="http://schemas.openxmlformats.org/officeDocument/2006/relationships/slide" Target="/ppt/slides/slide6.xml" Id="Rf1fd5f127de34bc3" /><Relationship Type="http://schemas.openxmlformats.org/officeDocument/2006/relationships/notesMaster" Target="/ppt/notesMasters/notesMaster1.xml" Id="R0d7bf572d3704f9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572cd6f3d5b4834" /><Relationship Type="http://schemas.openxmlformats.org/officeDocument/2006/relationships/notesMaster" Target="/ppt/notesMasters/notesMaster1.xml" Id="R3a3214f3ddc746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fcf27c97af954caa" /><Relationship Type="http://schemas.openxmlformats.org/officeDocument/2006/relationships/notesMaster" Target="/ppt/notesMasters/notesMaster1.xml" Id="Rbbe3f48eea9644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2b1c9b71f754856" /><Relationship Type="http://schemas.openxmlformats.org/officeDocument/2006/relationships/notesMaster" Target="/ppt/notesMasters/notesMaster1.xml" Id="Rebca8a52847345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3e717198e714c2f" /><Relationship Type="http://schemas.openxmlformats.org/officeDocument/2006/relationships/notesMaster" Target="/ppt/notesMasters/notesMaster1.xml" Id="R4352b3968fa549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8fcd7548184fb8" /><Relationship Type="http://schemas.openxmlformats.org/officeDocument/2006/relationships/notesMaster" Target="/ppt/notesMasters/notesMaster1.xml" Id="R7ada4920f63f4bd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d3d3f49067d44f0" /><Relationship Type="http://schemas.openxmlformats.org/officeDocument/2006/relationships/notesMaster" Target="/ppt/notesMasters/notesMaster1.xml" Id="R0f9b0aaa28fd484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d4cd1624f34375" /><Relationship Type="http://schemas.openxmlformats.org/officeDocument/2006/relationships/notesMaster" Target="/ppt/notesMasters/notesMaster1.xml" Id="R43f4a1841dda422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caaa20f5f1a4fce" /><Relationship Type="http://schemas.openxmlformats.org/officeDocument/2006/relationships/notesMaster" Target="/ppt/notesMasters/notesMaster1.xml" Id="Rb026eefe253c411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f52718ccaca4be6" /><Relationship Type="http://schemas.openxmlformats.org/officeDocument/2006/relationships/notesMaster" Target="/ppt/notesMasters/notesMaster1.xml" Id="R0f346735e6b2484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1fee7ddbd8f472a" /><Relationship Type="http://schemas.openxmlformats.org/officeDocument/2006/relationships/notesMaster" Target="/ppt/notesMasters/notesMaster1.xml" Id="R28924fd9e8d6435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opens: introduce yourself and your small engineering teams across TKG, mainly at Remington in Lonoke. Introduce Wesley by name, then invite him to introduce himself. WESLEY introduces himself in his own words: his path, current work, and what drew him in. BRAD frames the talk: engineering that reaches the floor, a shared live demo, and an invitation to people who want to build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Honor Remington’s history and Lonoke’s place in it. The world of manufacturing has changed. State the ambition clearly: Remington and The Kinetic Group intend to write the rules for the future of manufacturing for decades to come by building capabilities that work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Remington makes ammunition in Lonoke. This work takes place around propellants, primers, energetic materials, and moving machinery. That context calls for disciplined engineering and close partnership with operators, quality, and safety teams. Our software supports the work; established machine safeguards and qualified people remain essential. The point is that useful information must hold up in the real production environment. Source: Remington About Us and Remington 2024 employee history (public); Brad's description of the plant.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The simple thread is sense, decide, act. A machine signal or image captures what is happening. Software turns it into a useful view or decision. People and equipment respond through the proper workflow. The difficult engineering is connecting these steps reliably in production. Now show five examples, beginning with systems already running on the floor.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Start with an operator or engineer asking: what is happening on the line right now, and what happened earlier? RemSCADA turns machine signals into a consistent, time-stamped history that people can use to see conditions and investigate changes. The hard work is trustworthy collection and interpretation, not a fancy dashboard. This is live and being refined. Call it supervisory information, not a safety controller or guaranteed real-time machine control. Source: Remington Systems Lab showcase narration, RemSCADAv6 source guide; Brad confirmed production use on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Centerfire inspection is live in the production flow. A camera captures the view, the vision system evaluates it, and the result reaches the people and equipment that rely on it. The hardest deployment challenge is often human: people need to understand the result, see how it behaves in their work, and have a path to raise concerns. Trust is earned through real use, listening, and refinement. Wesley: add your own experience of working with floor teams, without sharing defect criteria, thresholds, line identifiers, or machine settings. Source: RemVision video narration and source guide; Brad confirmed live centerfire inspection and the trust theme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or Brad: Another product creates a different visual inspection problem. The engineering pattern stays familiar: capture a useful image, decide from evidence, and return a result in time for the production workflow. This system is live and being polished. Tell one concrete, public-safe story about adapting the system to shotshells, preferably a moment when an early assumption did not survive the floor. Avoid specific defect taxonomy, model thresholds, line rates, or control details. Source: RemVision video narration and source guide; Brad confirmed live shotshell inspection October 22,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Move beyond the factory. Remington and TKG also need to understand what people are saying about their products and brands. Our sentiment project turns collected public discussion into themes and directional signals, while keeping a path to the original sources. A useful story is how a cluster of comments can lead someone to read the actual posts rather than trust a single score. Do not call it a complete view of the market or an inline floor system. Source: Remington Systems Lab showcase narration and Public Sentiment source guide.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or Brad: Remi is our local language-model work for engineering questions and tasks. The model is one piece; approved project knowledge, scoped tools, permissions, and verification make it useful. Tell a story about an engineer who has a question and needs a grounded answer or a draft they can inspect. Treat this as a developing capability, not a claim of organization-wide rollout or permission-complete access. Source: Remington Systems Lab showcase narration, Little Chef source guide, and Design DGX RAG Agent Architecture chat.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speaks in his own words. Optional anchors from his planned remarks: one of the first software interns; work with AI and different machines; variety; freedom to explore; ownership; unexpected opportunities. Choose one concrete public example of a problem, what you tried, and what you learned. Finish with why you love the work, then move with Brad to the 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 WESLEY lead the live demonstration together. Brad introduces the camera-to-decision flow and shows the first Gatorade bottle. Wesley chooses the next bottle or feature and narrates what matters in his own words. Brad may ask the audience to predict the result and closes with sense, decide, act. The sorting decision is on screen; this setup does not control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Wesley and Brad: The hard problems include variation and timing, but reliability includes the human side. A result must be understandable and useful to the operators and quality teams who rely on it. Return to the centerfire story: trust grows through real use, feedback, and refinement. Do not imply the demo itself is a production 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talent across Remington and TKG. Mention mechanical engineering, controls, software, and testing as examples; curiosity and persistence matter too. Direct job applications to the official careers page. Ask students what they have built and want to try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Run the separate 4Founders interactive challenge. Ask audience to scan QR or use the URL and event PIN, then draw, test, and change. Allow about three minutes. 4Founders is an independent project platform; company job applications go through TKG careers.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Invite interests beyond the disciplines shown. Ask what students want to pursue. If a real fit emerges, explore a first step together; in the right situation the organization might become their first customer. This is a possibility, not a commitment.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BRAD: Point to the email on screen. Invite follow-up from people interested in joining a team, exploring an idea, or asking about the work. WESLEY: In your own words, invite engineering questions and ideas people are building. BRAD: Close with the on-screen line: “Our history was made on the factory floor. The future will be, too. Come build and fight with us. Turn AI into action.” Hold the slide for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38765ecd3843d5" /><Relationship Type="http://schemas.openxmlformats.org/officeDocument/2006/relationships/image" Target="/ppt/media/image.jpeg" Id="Rd92d413e946d4cd0" /><Relationship Type="http://schemas.openxmlformats.org/officeDocument/2006/relationships/image" Target="/ppt/media/image2.jpeg" Id="R6366b8ee0836484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e910d745fe4848" /><Relationship Type="http://schemas.openxmlformats.org/officeDocument/2006/relationships/image" Target="/ppt/media/image.jpeg" Id="Rcbf46b3f6d934b73" /><Relationship Type="http://schemas.openxmlformats.org/officeDocument/2006/relationships/image" Target="/ppt/media/image3.jpeg" Id="R703cdda5bb454e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313bca36e54de8" /><Relationship Type="http://schemas.openxmlformats.org/officeDocument/2006/relationships/image" Target="/ppt/media/image4.jpeg" Id="Ra279ad52dccb400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c0592157c854ac9" /><Relationship Type="http://schemas.openxmlformats.org/officeDocument/2006/relationships/image" Target="/ppt/media/image5.jpeg" Id="R1262025a8d50483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1180a1c7f914e65" /><Relationship Type="http://schemas.openxmlformats.org/officeDocument/2006/relationships/image" Target="/ppt/media/image6.jpeg" Id="Re93a10b338134053"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3820953D-6025-4502-81A5-DD3440D09939}"/>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d92d413e946d4cd0">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F8843342-33E1-4D86-93BC-730BFB28E5CE}"/>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366b8ee08364845">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D636856E-E78F-433A-913B-7445D2C46382}"/>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cbf46b3f6d934b73">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A5AC7042-0FDC-4FA4-97D1-AB4C2C800A56}"/>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703cdda5bb454eea">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a279ad52dccb400d">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CDB0A5A2-2302-4F62-BF4B-32370E8A463C}"/>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1262025a8d50483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e93a10b338134053">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56cfa3ecff49d2" /><Relationship Type="http://schemas.openxmlformats.org/officeDocument/2006/relationships/slideLayout" Target="/ppt/slideLayouts/slideLayout1.xml" Id="R95759e68c9a24775" /><Relationship Type="http://schemas.openxmlformats.org/officeDocument/2006/relationships/slideLayout" Target="/ppt/slideLayouts/slideLayout2.xml" Id="Rd17f149b9bd4457c" /><Relationship Type="http://schemas.openxmlformats.org/officeDocument/2006/relationships/slideLayout" Target="/ppt/slideLayouts/slideLayout3.xml" Id="R38c6b08a2ec642eb" /><Relationship Type="http://schemas.openxmlformats.org/officeDocument/2006/relationships/slideLayout" Target="/ppt/slideLayouts/slideLayout4.xml" Id="Re42838aa75894d73" /><Relationship Type="http://schemas.openxmlformats.org/officeDocument/2006/relationships/slideLayout" Target="/ppt/slideLayouts/slideLayout5.xml" Id="Rae6ee4cc66cc4a8e"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5759e68c9a24775"/>
    <p:sldLayoutId xmlns:r="http://schemas.openxmlformats.org/officeDocument/2006/relationships" id="2147483650" r:id="Rd17f149b9bd4457c"/>
    <p:sldLayoutId xmlns:r="http://schemas.openxmlformats.org/officeDocument/2006/relationships" id="2147483651" r:id="R38c6b08a2ec642eb"/>
    <p:sldLayoutId xmlns:r="http://schemas.openxmlformats.org/officeDocument/2006/relationships" id="2147483652" r:id="Re42838aa75894d73"/>
    <p:sldLayoutId xmlns:r="http://schemas.openxmlformats.org/officeDocument/2006/relationships" id="2147483653" r:id="Rae6ee4cc66cc4a8e"/>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542ad319a60b4a4f" /><Relationship Type="http://schemas.openxmlformats.org/officeDocument/2006/relationships/notesSlide" Target="/ppt/notesSlides/notesSlide1.xml" Id="R2fcee520228d42f8"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64f2be16de05427c" /><Relationship Type="http://schemas.openxmlformats.org/officeDocument/2006/relationships/notesSlide" Target="/ppt/notesSlides/notesSlide2.xml" Id="Reeecb47fed344d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d44d2b3d739a4b3a" /><Relationship Type="http://schemas.openxmlformats.org/officeDocument/2006/relationships/notesSlide" Target="/ppt/notesSlides/notesSlide3.xml" Id="R3b52a183418342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9e9c5abf1c76469a" /><Relationship Type="http://schemas.openxmlformats.org/officeDocument/2006/relationships/notesSlide" Target="/ppt/notesSlides/notesSlide4.xml" Id="Rc53c68899a0e42c9"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cadf6869cb5e4f84" /><Relationship Type="http://schemas.openxmlformats.org/officeDocument/2006/relationships/notesSlide" Target="/ppt/notesSlides/notesSlide5.xml" Id="R65ed79f56b2c4c15" /></Relationships>
</file>

<file path=ppt/slides/_rels/slide6.xml.rels>&#65279;<?xml version="1.0" encoding="utf-8"?><Relationships xmlns="http://schemas.openxmlformats.org/package/2006/relationships"><Relationship Type="http://schemas.openxmlformats.org/officeDocument/2006/relationships/slideLayout" Target="/ppt/slideLayouts/slideLayout3.xml" Id="R1b11d459c5a64d02" /><Relationship Type="http://schemas.openxmlformats.org/officeDocument/2006/relationships/notesSlide" Target="/ppt/notesSlides/notesSlide6.xml" Id="Raa6d85648491441e"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2f1f7aab9363476c" /><Relationship Type="http://schemas.openxmlformats.org/officeDocument/2006/relationships/notesSlide" Target="/ppt/notesSlides/notesSlide7.xml" Id="Re0a43262e5c74ad4"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8a4db6e309004fa6" /><Relationship Type="http://schemas.openxmlformats.org/officeDocument/2006/relationships/notesSlide" Target="/ppt/notesSlides/notesSlide8.xml" Id="R6e1109d693674359"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c57d0c173c824b0e" /><Relationship Type="http://schemas.openxmlformats.org/officeDocument/2006/relationships/notesSlide" Target="/ppt/notesSlides/notesSlide9.xml" Id="R5310b0053ba44af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54a81ba525b6444d" /><Relationship Type="http://schemas.openxmlformats.org/officeDocument/2006/relationships/notesSlide" Target="/ppt/notesSlides/notesSlide10.xml" Id="Rb33d672334c240f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3033348d96f74993" /><Relationship Type="http://schemas.openxmlformats.org/officeDocument/2006/relationships/notesSlide" Target="/ppt/notesSlides/notesSlide11.xml" Id="R12af61bb952b453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7f63d34a3ec2415b" /><Relationship Type="http://schemas.openxmlformats.org/officeDocument/2006/relationships/notesSlide" Target="/ppt/notesSlides/notesSlide12.xml" Id="R03c8a21e52eb409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ffc3f689401e4208" /><Relationship Type="http://schemas.openxmlformats.org/officeDocument/2006/relationships/notesSlide" Target="/ppt/notesSlides/notesSlide13.xml" Id="R6a9a7dda359b4d8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9107888ea2e4ea3" /><Relationship Type="http://schemas.openxmlformats.org/officeDocument/2006/relationships/image" Target="/ppt/media/image.png" Id="Re39a86eda55140e9" /><Relationship Type="http://schemas.openxmlformats.org/officeDocument/2006/relationships/notesSlide" Target="/ppt/notesSlides/notesSlide14.xml" Id="R7a0fd486976c49b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3.xml" Id="R6f669287eabf4fb4" /><Relationship Type="http://schemas.openxmlformats.org/officeDocument/2006/relationships/notesSlide" Target="/ppt/notesSlides/notesSlide15.xml" Id="Rf23b80b34391440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3.xml" Id="R20af89ce15a446d7" /><Relationship Type="http://schemas.openxmlformats.org/officeDocument/2006/relationships/notesSlide" Target="/ppt/notesSlides/notesSlide16.xml" Id="Rc0d661328980486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DE87B26-18C7-45F5-93FF-53ED48BFE142}"/>
              </a:ext>
            </a:extLst>
          </p:cNvPr>
          <p:cNvSpPr>
            <a:spLocks xmlns:a="http://schemas.openxmlformats.org/drawingml/2006/main" noGrp="1"/>
          </p:cNvSpPr>
          <p:nvPr/>
        </p:nvSpPr>
        <p:spPr>
          <a:xfrm xmlns:a="http://schemas.openxmlformats.org/drawingml/2006/main">
            <a:off x="904875" y="2247900"/>
            <a:ext cx="7334250" cy="1362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xmlns:a="http://schemas.openxmlformats.org/drawingml/2006/main">
            <a:pPr algn="ctr">
              <a:buNone/>
              <a:defRPr sz="4125" b="0" i="0">
                <a:solidFill>
                  <a:srgbClr val="FFFFFF"/>
                </a:solidFill>
              </a:defRPr>
            </a:pPr>
            <a:r>
              <a:rPr sz="4125" b="0" i="0">
                <a:solidFill>
                  <a:srgbClr val="FFFFFF"/>
                </a:solidFill>
              </a:rPr>
              <a:t>Engineering at</a:t>
            </a:r>
          </a:p>
          <a:p xmlns:a="http://schemas.openxmlformats.org/drawingml/2006/main">
            <a:pPr algn="ctr">
              <a:buNone/>
              <a:defRPr sz="4125" b="0" i="0">
                <a:solidFill>
                  <a:srgbClr val="FFFFFF"/>
                </a:solidFill>
              </a:defRPr>
            </a:pPr>
            <a:r>
              <a:rPr sz="4125" b="0" i="0">
                <a:solidFill>
                  <a:srgbClr val="FFFFFF"/>
                </a:solidFill>
              </a:rPr>
              <a:t>The Kinetic Group</a:t>
            </a:r>
          </a:p>
        </p:txBody>
      </p:sp>
      <p:sp>
        <p:nvSpPr>
          <p:cNvPr id="2" name="">
            <a:extLst xmlns:a="http://schemas.openxmlformats.org/drawingml/2006/main">
              <a:ext uri="{FF2B5EF4-FFF2-40B4-BE49-F238E27FC236}">
                <a16:creationId xmlns:a16="http://schemas.microsoft.com/office/drawing/2014/main" id="{4ABA60F8-29B6-4B9A-85ED-6AC64EC1527C}"/>
              </a:ext>
            </a:extLst>
          </p:cNvPr>
          <p:cNvSpPr>
            <a:spLocks xmlns:a="http://schemas.openxmlformats.org/drawingml/2006/main" noGrp="1"/>
          </p:cNvSpPr>
          <p:nvPr/>
        </p:nvSpPr>
        <p:spPr>
          <a:xfrm xmlns:a="http://schemas.openxmlformats.org/drawingml/2006/main">
            <a:off x="952500" y="4286250"/>
            <a:ext cx="723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xmlns:a="http://schemas.openxmlformats.org/drawingml/2006/main">
            <a:pPr algn="ctr">
              <a:buNone/>
              <a:defRPr sz="2250" b="0" i="0">
                <a:solidFill>
                  <a:srgbClr val="FFFFFF"/>
                </a:solidFill>
              </a:defRPr>
            </a:pPr>
            <a:r>
              <a:rPr sz="2250" b="0" i="0">
                <a:solidFill>
                  <a:srgbClr val="FFFFFF"/>
                </a:solidFill>
              </a:rPr>
              <a:t>Brad Daugherty  •  Wesley Siharath</a:t>
            </a:r>
          </a:p>
        </p:txBody>
      </p:sp>
      <p:sp>
        <p:nvSpPr>
          <p:cNvPr id="3" name="">
            <a:extLst xmlns:a="http://schemas.openxmlformats.org/drawingml/2006/main">
              <a:ext uri="{FF2B5EF4-FFF2-40B4-BE49-F238E27FC236}">
                <a16:creationId xmlns:a16="http://schemas.microsoft.com/office/drawing/2014/main" id="{7B96AC22-F9C7-4365-8E03-CDD4D7110DBE}"/>
              </a:ext>
            </a:extLst>
          </p:cNvPr>
          <p:cNvSpPr>
            <a:spLocks xmlns:a="http://schemas.openxmlformats.org/drawingml/2006/main" noGrp="1"/>
          </p:cNvSpPr>
          <p:nvPr/>
        </p:nvSpPr>
        <p:spPr>
          <a:xfrm xmlns:a="http://schemas.openxmlformats.org/drawingml/2006/main">
            <a:off x="1238250" y="5019675"/>
            <a:ext cx="666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xmlns:a="http://schemas.openxmlformats.org/drawingml/2006/main">
            <a:pPr algn="ctr">
              <a:buNone/>
              <a:defRPr sz="1650" b="0" i="0">
                <a:solidFill>
                  <a:srgbClr val="D5D8DA"/>
                </a:solidFill>
              </a:defRPr>
            </a:pPr>
            <a:r>
              <a:rPr sz="1650" b="0" i="0">
                <a:solidFill>
                  <a:srgbClr val="D5D8DA"/>
                </a:solidFill>
              </a:rPr>
              <a:t>Go 4th Fridays  ·  October 23, 2026</a:t>
            </a:r>
          </a:p>
        </p:txBody>
      </p:sp>
      <p:sp>
        <p:nvSpPr>
          <p:cNvPr id="4" name="">
            <a:extLst xmlns:a="http://schemas.openxmlformats.org/drawingml/2006/main">
              <a:ext uri="{FF2B5EF4-FFF2-40B4-BE49-F238E27FC236}">
                <a16:creationId xmlns:a16="http://schemas.microsoft.com/office/drawing/2014/main" id="{1675AF90-ACB1-4495-A523-4F205D0DBC90}"/>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a:t>
            </a:r>
          </a:p>
        </p:txBody>
      </p:sp>
    </p:spTree>
    <p:extLst>
      <p:ext uri="{BB962C8B-B14F-4D97-AF65-F5344CB8AC3E}">
        <p14:creationId xmlns:p14="http://schemas.microsoft.com/office/powerpoint/2010/main" val="66711338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AC693DC-ADB3-44BD-B760-D12C9945D0C8}"/>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Writing the next rules</a:t>
            </a:r>
          </a:p>
        </p:txBody>
      </p:sp>
      <p:sp>
        <p:nvSpPr>
          <p:cNvPr id="2" name="">
            <a:extLst xmlns:a="http://schemas.openxmlformats.org/drawingml/2006/main">
              <a:ext uri="{FF2B5EF4-FFF2-40B4-BE49-F238E27FC236}">
                <a16:creationId xmlns:a16="http://schemas.microsoft.com/office/drawing/2014/main" id="{12D3E71C-AF76-4283-BA53-B68DB0444A6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2</a:t>
            </a:r>
          </a:p>
        </p:txBody>
      </p:sp>
      <p:sp>
        <p:nvSpPr>
          <p:cNvPr id="3" name="">
            <a:extLst xmlns:a="http://schemas.openxmlformats.org/drawingml/2006/main">
              <a:ext uri="{FF2B5EF4-FFF2-40B4-BE49-F238E27FC236}">
                <a16:creationId xmlns:a16="http://schemas.microsoft.com/office/drawing/2014/main" id="{49832774-3187-4D2C-A6F6-52F25DFA0796}"/>
              </a:ext>
            </a:extLst>
          </p:cNvPr>
          <p:cNvSpPr>
            <a:spLocks xmlns:a="http://schemas.openxmlformats.org/drawingml/2006/main" noGrp="1"/>
          </p:cNvSpPr>
          <p:nvPr/>
        </p:nvSpPr>
        <p:spPr>
          <a:xfrm xmlns:a="http://schemas.openxmlformats.org/drawingml/2006/main">
            <a:off x="7239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1816</a:t>
            </a:r>
          </a:p>
        </p:txBody>
      </p:sp>
      <p:sp>
        <p:nvSpPr>
          <p:cNvPr id="4" name="">
            <a:extLst xmlns:a="http://schemas.openxmlformats.org/drawingml/2006/main">
              <a:ext uri="{FF2B5EF4-FFF2-40B4-BE49-F238E27FC236}">
                <a16:creationId xmlns:a16="http://schemas.microsoft.com/office/drawing/2014/main" id="{421BD8B3-06FE-4F59-B92D-DF17072E027D}"/>
              </a:ext>
            </a:extLst>
          </p:cNvPr>
          <p:cNvSpPr>
            <a:spLocks xmlns:a="http://schemas.openxmlformats.org/drawingml/2006/main" noGrp="1"/>
          </p:cNvSpPr>
          <p:nvPr/>
        </p:nvSpPr>
        <p:spPr>
          <a:xfrm xmlns:a="http://schemas.openxmlformats.org/drawingml/2006/main">
            <a:off x="7239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a:t>
            </a:r>
          </a:p>
        </p:txBody>
      </p:sp>
      <p:sp>
        <p:nvSpPr>
          <p:cNvPr id="5" name="">
            <a:extLst xmlns:a="http://schemas.openxmlformats.org/drawingml/2006/main">
              <a:ext uri="{FF2B5EF4-FFF2-40B4-BE49-F238E27FC236}">
                <a16:creationId xmlns:a16="http://schemas.microsoft.com/office/drawing/2014/main" id="{764AA312-8600-4239-839A-62BFEBAC26C2}"/>
              </a:ext>
            </a:extLst>
          </p:cNvPr>
          <p:cNvSpPr>
            <a:spLocks xmlns:a="http://schemas.openxmlformats.org/drawingml/2006/main" noGrp="1"/>
          </p:cNvSpPr>
          <p:nvPr/>
        </p:nvSpPr>
        <p:spPr>
          <a:xfrm xmlns:a="http://schemas.openxmlformats.org/drawingml/2006/main">
            <a:off x="34290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1969</a:t>
            </a:r>
          </a:p>
        </p:txBody>
      </p:sp>
      <p:sp>
        <p:nvSpPr>
          <p:cNvPr id="6" name="">
            <a:extLst xmlns:a="http://schemas.openxmlformats.org/drawingml/2006/main">
              <a:ext uri="{FF2B5EF4-FFF2-40B4-BE49-F238E27FC236}">
                <a16:creationId xmlns:a16="http://schemas.microsoft.com/office/drawing/2014/main" id="{20E15801-E743-4600-BC18-DB830F99A579}"/>
              </a:ext>
            </a:extLst>
          </p:cNvPr>
          <p:cNvSpPr>
            <a:spLocks xmlns:a="http://schemas.openxmlformats.org/drawingml/2006/main" noGrp="1"/>
          </p:cNvSpPr>
          <p:nvPr/>
        </p:nvSpPr>
        <p:spPr>
          <a:xfrm xmlns:a="http://schemas.openxmlformats.org/drawingml/2006/main">
            <a:off x="34290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Lonoke, Arkansas</a:t>
            </a:r>
          </a:p>
        </p:txBody>
      </p:sp>
      <p:sp>
        <p:nvSpPr>
          <p:cNvPr id="7" name="">
            <a:extLst xmlns:a="http://schemas.openxmlformats.org/drawingml/2006/main">
              <a:ext uri="{FF2B5EF4-FFF2-40B4-BE49-F238E27FC236}">
                <a16:creationId xmlns:a16="http://schemas.microsoft.com/office/drawing/2014/main" id="{D177DCFC-C46C-479B-87AD-CF5C7CAB4F2F}"/>
              </a:ext>
            </a:extLst>
          </p:cNvPr>
          <p:cNvSpPr>
            <a:spLocks xmlns:a="http://schemas.openxmlformats.org/drawingml/2006/main" noGrp="1"/>
          </p:cNvSpPr>
          <p:nvPr/>
        </p:nvSpPr>
        <p:spPr>
          <a:xfrm xmlns:a="http://schemas.openxmlformats.org/drawingml/2006/main">
            <a:off x="6210300" y="2781300"/>
            <a:ext cx="2476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xmlns:a="http://schemas.openxmlformats.org/drawingml/2006/main">
            <a:pPr algn="l">
              <a:buNone/>
              <a:defRPr sz="4200" b="1" i="0">
                <a:solidFill>
                  <a:srgbClr val="BEA06A"/>
                </a:solidFill>
              </a:defRPr>
            </a:pPr>
            <a:r>
              <a:rPr sz="4200" b="1" i="0">
                <a:solidFill>
                  <a:srgbClr val="BEA06A"/>
                </a:solidFill>
              </a:rPr>
              <a:t>NEXT</a:t>
            </a:r>
          </a:p>
        </p:txBody>
      </p:sp>
      <p:sp>
        <p:nvSpPr>
          <p:cNvPr id="8" name="">
            <a:extLst xmlns:a="http://schemas.openxmlformats.org/drawingml/2006/main">
              <a:ext uri="{FF2B5EF4-FFF2-40B4-BE49-F238E27FC236}">
                <a16:creationId xmlns:a16="http://schemas.microsoft.com/office/drawing/2014/main" id="{C3484B32-C19C-486F-BA3A-43B81D9CF873}"/>
              </a:ext>
            </a:extLst>
          </p:cNvPr>
          <p:cNvSpPr>
            <a:spLocks xmlns:a="http://schemas.openxmlformats.org/drawingml/2006/main" noGrp="1"/>
          </p:cNvSpPr>
          <p:nvPr/>
        </p:nvSpPr>
        <p:spPr>
          <a:xfrm xmlns:a="http://schemas.openxmlformats.org/drawingml/2006/main">
            <a:off x="6210300" y="3600450"/>
            <a:ext cx="25717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Remington + TKG</a:t>
            </a:r>
          </a:p>
        </p:txBody>
      </p:sp>
      <p:sp>
        <p:nvSpPr>
          <p:cNvPr id="9" name="">
            <a:extLst xmlns:a="http://schemas.openxmlformats.org/drawingml/2006/main">
              <a:ext uri="{FF2B5EF4-FFF2-40B4-BE49-F238E27FC236}">
                <a16:creationId xmlns:a16="http://schemas.microsoft.com/office/drawing/2014/main" id="{E4838EB9-11B7-4449-9E65-E46A7DE866D0}"/>
              </a:ext>
            </a:extLst>
          </p:cNvPr>
          <p:cNvSpPr>
            <a:spLocks xmlns:a="http://schemas.openxmlformats.org/drawingml/2006/main" noGrp="1"/>
          </p:cNvSpPr>
          <p:nvPr/>
        </p:nvSpPr>
        <p:spPr>
          <a:xfrm xmlns:a="http://schemas.openxmlformats.org/drawingml/2006/main">
            <a:off x="723900" y="5124450"/>
            <a:ext cx="7858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Keep writing the rules for decades to come.</a:t>
            </a:r>
          </a:p>
        </p:txBody>
      </p:sp>
      <p:sp>
        <p:nvSpPr>
          <p:cNvPr id="11" name="">
            <a:extLst xmlns:a="http://schemas.openxmlformats.org/drawingml/2006/main">
              <a:ext uri="{FF2B5EF4-FFF2-40B4-BE49-F238E27FC236}">
                <a16:creationId xmlns:a16="http://schemas.microsoft.com/office/drawing/2014/main" id="{D3D849C0-5F9F-4478-8E01-A37E945D045A}"/>
              </a:ext>
            </a:extLst>
          </p:cNvPr>
          <p:cNvSpPr>
            <a:spLocks xmlns:a="http://schemas.openxmlformats.org/drawingml/2006/main" noGrp="1"/>
          </p:cNvSpPr>
          <p:nvPr/>
        </p:nvSpPr>
        <p:spPr>
          <a:xfrm xmlns:a="http://schemas.openxmlformats.org/drawingml/2006/main">
            <a:off x="723900" y="4429125"/>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Generations of skill in Arkansas built this foundation.</a:t>
            </a:r>
          </a:p>
        </p:txBody>
      </p:sp>
    </p:spTree>
    <p:extLst>
      <p:ext uri="{BB962C8B-B14F-4D97-AF65-F5344CB8AC3E}">
        <p14:creationId xmlns:p14="http://schemas.microsoft.com/office/powerpoint/2010/main" val="155408109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9A0D6B5-0E7E-4F2B-AC05-B73E1135517F}"/>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The stakes are real</a:t>
            </a:r>
          </a:p>
        </p:txBody>
      </p:sp>
      <p:sp>
        <p:nvSpPr>
          <p:cNvPr id="2" name="">
            <a:extLst xmlns:a="http://schemas.openxmlformats.org/drawingml/2006/main">
              <a:ext uri="{FF2B5EF4-FFF2-40B4-BE49-F238E27FC236}">
                <a16:creationId xmlns:a16="http://schemas.microsoft.com/office/drawing/2014/main" id="{81D5A79B-1CD2-4921-8F6A-0B1F628BF8F6}"/>
              </a:ext>
            </a:extLst>
          </p:cNvPr>
          <p:cNvSpPr>
            <a:spLocks xmlns:a="http://schemas.openxmlformats.org/drawingml/2006/main" noGrp="1"/>
          </p:cNvSpPr>
          <p:nvPr/>
        </p:nvSpPr>
        <p:spPr>
          <a:xfrm xmlns:a="http://schemas.openxmlformats.org/drawingml/2006/main">
            <a:off x="723900" y="2743200"/>
            <a:ext cx="7810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xmlns:a="http://schemas.openxmlformats.org/drawingml/2006/main">
            <a:pPr algn="l">
              <a:defRPr sz="3225" b="1" i="0">
                <a:solidFill>
                  <a:srgbClr val="BEA06A"/>
                </a:solidFill>
              </a:defRPr>
            </a:pPr>
            <a:r>
              <a:rPr sz="3225" b="1" i="0">
                <a:solidFill>
                  <a:srgbClr val="BEA06A"/>
                </a:solidFill>
              </a:rPr>
              <a:t>Ammunition manufacturing</a:t>
            </a:r>
          </a:p>
        </p:txBody>
      </p:sp>
      <p:sp>
        <p:nvSpPr>
          <p:cNvPr id="3" name="">
            <a:extLst xmlns:a="http://schemas.openxmlformats.org/drawingml/2006/main">
              <a:ext uri="{FF2B5EF4-FFF2-40B4-BE49-F238E27FC236}">
                <a16:creationId xmlns:a16="http://schemas.microsoft.com/office/drawing/2014/main" id="{835CE6D9-D778-4D01-BB6A-BEDFEF1CD622}"/>
              </a:ext>
            </a:extLst>
          </p:cNvPr>
          <p:cNvSpPr>
            <a:spLocks xmlns:a="http://schemas.openxmlformats.org/drawingml/2006/main" noGrp="1"/>
          </p:cNvSpPr>
          <p:nvPr/>
        </p:nvSpPr>
        <p:spPr>
          <a:xfrm xmlns:a="http://schemas.openxmlformats.org/drawingml/2006/main">
            <a:off x="723900" y="3714750"/>
            <a:ext cx="78105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xmlns:a="http://schemas.openxmlformats.org/drawingml/2006/main">
            <a:pPr algn="l">
              <a:defRPr sz="2250" b="0" i="0">
                <a:solidFill>
                  <a:srgbClr val="FFFFFF"/>
                </a:solidFill>
              </a:defRPr>
            </a:pPr>
            <a:r>
              <a:rPr sz="2250" b="0" i="0">
                <a:solidFill>
                  <a:srgbClr val="FFFFFF"/>
                </a:solidFill>
              </a:rPr>
              <a:t>Propellants and primers. Moving machinery.</a:t>
            </a:r>
          </a:p>
          <a:p xmlns:a="http://schemas.openxmlformats.org/drawingml/2006/main">
            <a:pPr algn="l">
              <a:defRPr sz="2250" b="0" i="0">
                <a:solidFill>
                  <a:srgbClr val="FFFFFF"/>
                </a:solidFill>
              </a:defRPr>
            </a:pPr>
            <a:r>
              <a:rPr sz="2250" b="0" i="0">
                <a:solidFill>
                  <a:srgbClr val="FFFFFF"/>
                </a:solidFill>
              </a:rPr>
              <a:t>Real production.</a:t>
            </a:r>
          </a:p>
        </p:txBody>
      </p:sp>
      <p:sp>
        <p:nvSpPr>
          <p:cNvPr id="4" name="">
            <a:extLst xmlns:a="http://schemas.openxmlformats.org/drawingml/2006/main">
              <a:ext uri="{FF2B5EF4-FFF2-40B4-BE49-F238E27FC236}">
                <a16:creationId xmlns:a16="http://schemas.microsoft.com/office/drawing/2014/main" id="{B8CB1A15-850A-48B0-B137-4AD0AC9D2217}"/>
              </a:ext>
            </a:extLst>
          </p:cNvPr>
          <p:cNvSpPr>
            <a:spLocks xmlns:a="http://schemas.openxmlformats.org/drawingml/2006/main" noGrp="1"/>
          </p:cNvSpPr>
          <p:nvPr/>
        </p:nvSpPr>
        <p:spPr>
          <a:xfrm xmlns:a="http://schemas.openxmlformats.org/drawingml/2006/main">
            <a:off x="723900" y="5314950"/>
            <a:ext cx="781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xmlns:a="http://schemas.openxmlformats.org/drawingml/2006/main">
            <a:pPr algn="l">
              <a:defRPr sz="2325" b="1" i="0">
                <a:solidFill>
                  <a:srgbClr val="FFFFFF"/>
                </a:solidFill>
              </a:defRPr>
            </a:pPr>
            <a:r>
              <a:rPr sz="2325" b="1" i="0">
                <a:solidFill>
                  <a:srgbClr val="FFFFFF"/>
                </a:solidFill>
              </a:rPr>
              <a:t>Build with the people who rely on it.</a:t>
            </a:r>
          </a:p>
        </p:txBody>
      </p:sp>
      <p:sp>
        <p:nvSpPr>
          <p:cNvPr id="5" name="">
            <a:extLst xmlns:a="http://schemas.openxmlformats.org/drawingml/2006/main">
              <a:ext uri="{FF2B5EF4-FFF2-40B4-BE49-F238E27FC236}">
                <a16:creationId xmlns:a16="http://schemas.microsoft.com/office/drawing/2014/main" id="{55B4D544-1296-4C71-B1CC-0ACDC246F2C8}"/>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3</a:t>
            </a:r>
          </a:p>
        </p:txBody>
      </p:sp>
    </p:spTree>
    <p:extLst>
      <p:ext uri="{BB962C8B-B14F-4D97-AF65-F5344CB8AC3E}">
        <p14:creationId xmlns:p14="http://schemas.microsoft.com/office/powerpoint/2010/main" val="46201472"/>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0F38884-198E-4A16-8A86-C1862F382EE2}"/>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Engineering that reaches the floor</a:t>
            </a:r>
          </a:p>
        </p:txBody>
      </p:sp>
      <p:sp>
        <p:nvSpPr>
          <p:cNvPr id="2" name="">
            <a:extLst xmlns:a="http://schemas.openxmlformats.org/drawingml/2006/main">
              <a:ext uri="{FF2B5EF4-FFF2-40B4-BE49-F238E27FC236}">
                <a16:creationId xmlns:a16="http://schemas.microsoft.com/office/drawing/2014/main" id="{FBBC7091-D511-4C55-BC16-67368151C20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4</a:t>
            </a:r>
          </a:p>
        </p:txBody>
      </p:sp>
      <p:sp>
        <p:nvSpPr>
          <p:cNvPr id="3" name="">
            <a:extLst xmlns:a="http://schemas.openxmlformats.org/drawingml/2006/main">
              <a:ext uri="{FF2B5EF4-FFF2-40B4-BE49-F238E27FC236}">
                <a16:creationId xmlns:a16="http://schemas.microsoft.com/office/drawing/2014/main" id="{397AAB4E-702C-4357-88ED-A71219DCD0B1}"/>
              </a:ext>
            </a:extLst>
          </p:cNvPr>
          <p:cNvSpPr>
            <a:spLocks xmlns:a="http://schemas.openxmlformats.org/drawingml/2006/main" noGrp="1"/>
          </p:cNvSpPr>
          <p:nvPr/>
        </p:nvSpPr>
        <p:spPr>
          <a:xfrm xmlns:a="http://schemas.openxmlformats.org/drawingml/2006/main">
            <a:off x="72390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SENSE</a:t>
            </a:r>
          </a:p>
        </p:txBody>
      </p:sp>
      <p:sp>
        <p:nvSpPr>
          <p:cNvPr id="4" name="">
            <a:extLst xmlns:a="http://schemas.openxmlformats.org/drawingml/2006/main">
              <a:ext uri="{FF2B5EF4-FFF2-40B4-BE49-F238E27FC236}">
                <a16:creationId xmlns:a16="http://schemas.microsoft.com/office/drawing/2014/main" id="{A34BA23E-0CD2-4E38-8F37-7AAB56C38762}"/>
              </a:ext>
            </a:extLst>
          </p:cNvPr>
          <p:cNvSpPr>
            <a:spLocks xmlns:a="http://schemas.openxmlformats.org/drawingml/2006/main" noGrp="1"/>
          </p:cNvSpPr>
          <p:nvPr/>
        </p:nvSpPr>
        <p:spPr>
          <a:xfrm xmlns:a="http://schemas.openxmlformats.org/drawingml/2006/main">
            <a:off x="72390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Machines capture</a:t>
            </a:r>
          </a:p>
          <a:p xmlns:a="http://schemas.openxmlformats.org/drawingml/2006/main">
            <a:pPr algn="l">
              <a:buNone/>
              <a:defRPr sz="1875" b="0" i="0">
                <a:solidFill>
                  <a:srgbClr val="FFFFFF"/>
                </a:solidFill>
              </a:defRPr>
            </a:pPr>
            <a:r>
              <a:rPr sz="1875" b="0" i="0">
                <a:solidFill>
                  <a:srgbClr val="FFFFFF"/>
                </a:solidFill>
              </a:rPr>
              <a:t>what is happening</a:t>
            </a:r>
          </a:p>
        </p:txBody>
      </p:sp>
      <p:sp>
        <p:nvSpPr>
          <p:cNvPr id="5" name="">
            <a:extLst xmlns:a="http://schemas.openxmlformats.org/drawingml/2006/main">
              <a:ext uri="{FF2B5EF4-FFF2-40B4-BE49-F238E27FC236}">
                <a16:creationId xmlns:a16="http://schemas.microsoft.com/office/drawing/2014/main" id="{74EF2072-0F5B-4869-B3C8-B8EF0150DF55}"/>
              </a:ext>
            </a:extLst>
          </p:cNvPr>
          <p:cNvSpPr>
            <a:spLocks xmlns:a="http://schemas.openxmlformats.org/drawingml/2006/main" noGrp="1"/>
          </p:cNvSpPr>
          <p:nvPr/>
        </p:nvSpPr>
        <p:spPr>
          <a:xfrm xmlns:a="http://schemas.openxmlformats.org/drawingml/2006/main">
            <a:off x="3419475"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DECIDE</a:t>
            </a:r>
          </a:p>
        </p:txBody>
      </p:sp>
      <p:sp>
        <p:nvSpPr>
          <p:cNvPr id="6" name="">
            <a:extLst xmlns:a="http://schemas.openxmlformats.org/drawingml/2006/main">
              <a:ext uri="{FF2B5EF4-FFF2-40B4-BE49-F238E27FC236}">
                <a16:creationId xmlns:a16="http://schemas.microsoft.com/office/drawing/2014/main" id="{578E9F30-B97B-4D21-9887-533D7D1E5D39}"/>
              </a:ext>
            </a:extLst>
          </p:cNvPr>
          <p:cNvSpPr>
            <a:spLocks xmlns:a="http://schemas.openxmlformats.org/drawingml/2006/main" noGrp="1"/>
          </p:cNvSpPr>
          <p:nvPr/>
        </p:nvSpPr>
        <p:spPr>
          <a:xfrm xmlns:a="http://schemas.openxmlformats.org/drawingml/2006/main">
            <a:off x="3419475"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Software turns signals</a:t>
            </a:r>
          </a:p>
          <a:p xmlns:a="http://schemas.openxmlformats.org/drawingml/2006/main">
            <a:pPr algn="l">
              <a:buNone/>
              <a:defRPr sz="1875" b="0" i="0">
                <a:solidFill>
                  <a:srgbClr val="FFFFFF"/>
                </a:solidFill>
              </a:defRPr>
            </a:pPr>
            <a:r>
              <a:rPr sz="1875" b="0" i="0">
                <a:solidFill>
                  <a:srgbClr val="FFFFFF"/>
                </a:solidFill>
              </a:rPr>
              <a:t>into a decision</a:t>
            </a:r>
          </a:p>
        </p:txBody>
      </p:sp>
      <p:sp>
        <p:nvSpPr>
          <p:cNvPr id="7" name="">
            <a:extLst xmlns:a="http://schemas.openxmlformats.org/drawingml/2006/main">
              <a:ext uri="{FF2B5EF4-FFF2-40B4-BE49-F238E27FC236}">
                <a16:creationId xmlns:a16="http://schemas.microsoft.com/office/drawing/2014/main" id="{3644D645-77AD-4BEA-B186-DA1B65F1C548}"/>
              </a:ext>
            </a:extLst>
          </p:cNvPr>
          <p:cNvSpPr>
            <a:spLocks xmlns:a="http://schemas.openxmlformats.org/drawingml/2006/main" noGrp="1"/>
          </p:cNvSpPr>
          <p:nvPr/>
        </p:nvSpPr>
        <p:spPr>
          <a:xfrm xmlns:a="http://schemas.openxmlformats.org/drawingml/2006/main">
            <a:off x="6229350" y="2800350"/>
            <a:ext cx="2381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xmlns:a="http://schemas.openxmlformats.org/drawingml/2006/main">
            <a:pPr algn="l">
              <a:buNone/>
              <a:defRPr sz="2625" b="1" i="0">
                <a:solidFill>
                  <a:srgbClr val="BEA06A"/>
                </a:solidFill>
              </a:defRPr>
            </a:pPr>
            <a:r>
              <a:rPr sz="2625" b="1" i="0">
                <a:solidFill>
                  <a:srgbClr val="BEA06A"/>
                </a:solidFill>
              </a:rPr>
              <a:t>ACT</a:t>
            </a:r>
          </a:p>
        </p:txBody>
      </p:sp>
      <p:sp>
        <p:nvSpPr>
          <p:cNvPr id="8" name="">
            <a:extLst xmlns:a="http://schemas.openxmlformats.org/drawingml/2006/main">
              <a:ext uri="{FF2B5EF4-FFF2-40B4-BE49-F238E27FC236}">
                <a16:creationId xmlns:a16="http://schemas.microsoft.com/office/drawing/2014/main" id="{8CD4209B-EEAA-49CF-B1CF-B1BCE1C02033}"/>
              </a:ext>
            </a:extLst>
          </p:cNvPr>
          <p:cNvSpPr>
            <a:spLocks xmlns:a="http://schemas.openxmlformats.org/drawingml/2006/main" noGrp="1"/>
          </p:cNvSpPr>
          <p:nvPr/>
        </p:nvSpPr>
        <p:spPr>
          <a:xfrm xmlns:a="http://schemas.openxmlformats.org/drawingml/2006/main">
            <a:off x="6229350" y="3543300"/>
            <a:ext cx="2524125"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xmlns:a="http://schemas.openxmlformats.org/drawingml/2006/main">
            <a:pPr algn="l">
              <a:buNone/>
              <a:defRPr sz="1875" b="0" i="0">
                <a:solidFill>
                  <a:srgbClr val="FFFFFF"/>
                </a:solidFill>
              </a:defRPr>
            </a:pPr>
            <a:r>
              <a:rPr sz="1875" b="0" i="0">
                <a:solidFill>
                  <a:srgbClr val="FFFFFF"/>
                </a:solidFill>
              </a:rPr>
              <a:t>People and equipment</a:t>
            </a:r>
          </a:p>
          <a:p xmlns:a="http://schemas.openxmlformats.org/drawingml/2006/main">
            <a:pPr algn="l">
              <a:buNone/>
              <a:defRPr sz="1875" b="0" i="0">
                <a:solidFill>
                  <a:srgbClr val="FFFFFF"/>
                </a:solidFill>
              </a:defRPr>
            </a:pPr>
            <a:r>
              <a:rPr sz="1875" b="0" i="0">
                <a:solidFill>
                  <a:srgbClr val="FFFFFF"/>
                </a:solidFill>
              </a:rPr>
              <a:t>respond</a:t>
            </a:r>
          </a:p>
        </p:txBody>
      </p:sp>
      <p:sp>
        <p:nvSpPr>
          <p:cNvPr id="9" name="">
            <a:extLst xmlns:a="http://schemas.openxmlformats.org/drawingml/2006/main">
              <a:ext uri="{FF2B5EF4-FFF2-40B4-BE49-F238E27FC236}">
                <a16:creationId xmlns:a16="http://schemas.microsoft.com/office/drawing/2014/main" id="{EFEC76D1-80FD-4BC8-AFC9-1E585F89C1B7}"/>
              </a:ext>
            </a:extLst>
          </p:cNvPr>
          <p:cNvSpPr>
            <a:spLocks xmlns:a="http://schemas.openxmlformats.org/drawingml/2006/main" noGrp="1"/>
          </p:cNvSpPr>
          <p:nvPr/>
        </p:nvSpPr>
        <p:spPr>
          <a:xfrm xmlns:a="http://schemas.openxmlformats.org/drawingml/2006/main">
            <a:off x="723900" y="5362575"/>
            <a:ext cx="7429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xmlns:a="http://schemas.openxmlformats.org/drawingml/2006/main">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p14:creationId xmlns:p14="http://schemas.microsoft.com/office/powerpoint/2010/main" val="102264667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551FB01-8FB1-47A8-B591-A8D02A574AC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SCADA</a:t>
            </a:r>
          </a:p>
        </p:txBody>
      </p:sp>
      <p:sp>
        <p:nvSpPr>
          <p:cNvPr id="2" name="">
            <a:extLst xmlns:a="http://schemas.openxmlformats.org/drawingml/2006/main">
              <a:ext uri="{FF2B5EF4-FFF2-40B4-BE49-F238E27FC236}">
                <a16:creationId xmlns:a16="http://schemas.microsoft.com/office/drawing/2014/main" id="{03F95EFC-E01C-4D09-8A27-1D05BD7EE80D}"/>
              </a:ext>
            </a:extLst>
          </p:cNvPr>
          <p:cNvSpPr>
            <a:spLocks xmlns:a="http://schemas.openxmlformats.org/drawingml/2006/main" noGrp="1"/>
          </p:cNvSpPr>
          <p:nvPr/>
        </p:nvSpPr>
        <p:spPr>
          <a:xfrm xmlns:a="http://schemas.openxmlformats.org/drawingml/2006/main">
            <a:off x="723900" y="2724150"/>
            <a:ext cx="77533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925" b="1" i="0">
                <a:solidFill>
                  <a:srgbClr val="FFFFFF"/>
                </a:solidFill>
              </a:defRPr>
            </a:defPPr>
            <a:lvl1pPr algn="l">
              <a:defRPr sz="2925" b="1" i="0">
                <a:solidFill>
                  <a:srgbClr val="FFFFFF"/>
                </a:solidFill>
              </a:defRPr>
            </a:lvl1pPr>
            <a:lvl2pPr algn="l">
              <a:defRPr sz="2925" b="1" i="0">
                <a:solidFill>
                  <a:srgbClr val="FFFFFF"/>
                </a:solidFill>
              </a:defRPr>
            </a:lvl2pPr>
            <a:lvl3pPr algn="l">
              <a:defRPr sz="2925" b="1" i="0">
                <a:solidFill>
                  <a:srgbClr val="FFFFFF"/>
                </a:solidFill>
              </a:defRPr>
            </a:lvl3pPr>
            <a:lvl4pPr algn="l">
              <a:defRPr sz="2925" b="1" i="0">
                <a:solidFill>
                  <a:srgbClr val="FFFFFF"/>
                </a:solidFill>
              </a:defRPr>
            </a:lvl4pPr>
            <a:lvl5pPr algn="l">
              <a:defRPr sz="2925" b="1" i="0">
                <a:solidFill>
                  <a:srgbClr val="FFFFFF"/>
                </a:solidFill>
              </a:defRPr>
            </a:lvl5pPr>
            <a:lvl6pPr algn="l">
              <a:defRPr sz="2925" b="1" i="0">
                <a:solidFill>
                  <a:srgbClr val="FFFFFF"/>
                </a:solidFill>
              </a:defRPr>
            </a:lvl6pPr>
            <a:lvl7pPr algn="l">
              <a:defRPr sz="2925" b="1" i="0">
                <a:solidFill>
                  <a:srgbClr val="FFFFFF"/>
                </a:solidFill>
              </a:defRPr>
            </a:lvl7pPr>
            <a:lvl8pPr algn="l">
              <a:defRPr sz="2925" b="1" i="0">
                <a:solidFill>
                  <a:srgbClr val="FFFFFF"/>
                </a:solidFill>
              </a:defRPr>
            </a:lvl8pPr>
            <a:lvl9pPr algn="l">
              <a:defRPr sz="2925" b="1" i="0">
                <a:solidFill>
                  <a:srgbClr val="FFFFFF"/>
                </a:solidFill>
              </a:defRPr>
            </a:lvl9pPr>
          </a:lstStyle>
          <a:p xmlns:a="http://schemas.openxmlformats.org/drawingml/2006/main">
            <a:pPr algn="l">
              <a:defRPr sz="2925" b="1" i="0">
                <a:solidFill>
                  <a:srgbClr val="FFFFFF"/>
                </a:solidFill>
              </a:defRPr>
            </a:pPr>
            <a:r>
              <a:rPr sz="2925" b="1" i="0">
                <a:solidFill>
                  <a:srgbClr val="FFFFFF"/>
                </a:solidFill>
              </a:rPr>
              <a:t>Machine signals become</a:t>
            </a:r>
          </a:p>
          <a:p xmlns:a="http://schemas.openxmlformats.org/drawingml/2006/main">
            <a:pPr algn="l">
              <a:defRPr sz="2925" b="1" i="0">
                <a:solidFill>
                  <a:srgbClr val="FFFFFF"/>
                </a:solidFill>
              </a:defRPr>
            </a:pPr>
            <a:r>
              <a:rPr sz="2925" b="1" i="0">
                <a:solidFill>
                  <a:srgbClr val="FFFFFF"/>
                </a:solidFill>
              </a:rPr>
              <a:t>a shared production history.</a:t>
            </a:r>
          </a:p>
        </p:txBody>
      </p:sp>
      <p:sp>
        <p:nvSpPr>
          <p:cNvPr id="3" name="">
            <a:extLst xmlns:a="http://schemas.openxmlformats.org/drawingml/2006/main">
              <a:ext uri="{FF2B5EF4-FFF2-40B4-BE49-F238E27FC236}">
                <a16:creationId xmlns:a16="http://schemas.microsoft.com/office/drawing/2014/main" id="{39CEB94D-D5D8-44DB-BCC4-E06D98190309}"/>
              </a:ext>
            </a:extLst>
          </p:cNvPr>
          <p:cNvSpPr>
            <a:spLocks xmlns:a="http://schemas.openxmlformats.org/drawingml/2006/main" noGrp="1"/>
          </p:cNvSpPr>
          <p:nvPr/>
        </p:nvSpPr>
        <p:spPr>
          <a:xfrm xmlns:a="http://schemas.openxmlformats.org/drawingml/2006/main">
            <a:off x="723900" y="4362450"/>
            <a:ext cx="7715250"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0" i="0">
                <a:solidFill>
                  <a:srgbClr val="BEA06A"/>
                </a:solidFill>
              </a:defRPr>
            </a:defPPr>
            <a:lvl1pPr algn="l">
              <a:defRPr sz="2325" b="0" i="0">
                <a:solidFill>
                  <a:srgbClr val="BEA06A"/>
                </a:solidFill>
              </a:defRPr>
            </a:lvl1pPr>
            <a:lvl2pPr algn="l">
              <a:defRPr sz="2325" b="0" i="0">
                <a:solidFill>
                  <a:srgbClr val="BEA06A"/>
                </a:solidFill>
              </a:defRPr>
            </a:lvl2pPr>
            <a:lvl3pPr algn="l">
              <a:defRPr sz="2325" b="0" i="0">
                <a:solidFill>
                  <a:srgbClr val="BEA06A"/>
                </a:solidFill>
              </a:defRPr>
            </a:lvl3pPr>
            <a:lvl4pPr algn="l">
              <a:defRPr sz="2325" b="0" i="0">
                <a:solidFill>
                  <a:srgbClr val="BEA06A"/>
                </a:solidFill>
              </a:defRPr>
            </a:lvl4pPr>
            <a:lvl5pPr algn="l">
              <a:defRPr sz="2325" b="0" i="0">
                <a:solidFill>
                  <a:srgbClr val="BEA06A"/>
                </a:solidFill>
              </a:defRPr>
            </a:lvl5pPr>
            <a:lvl6pPr algn="l">
              <a:defRPr sz="2325" b="0" i="0">
                <a:solidFill>
                  <a:srgbClr val="BEA06A"/>
                </a:solidFill>
              </a:defRPr>
            </a:lvl6pPr>
            <a:lvl7pPr algn="l">
              <a:defRPr sz="2325" b="0" i="0">
                <a:solidFill>
                  <a:srgbClr val="BEA06A"/>
                </a:solidFill>
              </a:defRPr>
            </a:lvl7pPr>
            <a:lvl8pPr algn="l">
              <a:defRPr sz="2325" b="0" i="0">
                <a:solidFill>
                  <a:srgbClr val="BEA06A"/>
                </a:solidFill>
              </a:defRPr>
            </a:lvl8pPr>
            <a:lvl9pPr algn="l">
              <a:defRPr sz="2325" b="0" i="0">
                <a:solidFill>
                  <a:srgbClr val="BEA06A"/>
                </a:solidFill>
              </a:defRPr>
            </a:lvl9pPr>
          </a:lstStyle>
          <a:p xmlns:a="http://schemas.openxmlformats.org/drawingml/2006/main">
            <a:pPr algn="l">
              <a:defRPr sz="2325" b="0" i="0">
                <a:solidFill>
                  <a:srgbClr val="BEA06A"/>
                </a:solidFill>
              </a:defRPr>
            </a:pPr>
            <a:r>
              <a:rPr sz="2325" b="0" i="0">
                <a:solidFill>
                  <a:srgbClr val="BEA06A"/>
                </a:solidFill>
              </a:rPr>
              <a:t>What is happening now? What changed?</a:t>
            </a:r>
          </a:p>
        </p:txBody>
      </p:sp>
      <p:sp>
        <p:nvSpPr>
          <p:cNvPr id="4" name="">
            <a:extLst xmlns:a="http://schemas.openxmlformats.org/drawingml/2006/main">
              <a:ext uri="{FF2B5EF4-FFF2-40B4-BE49-F238E27FC236}">
                <a16:creationId xmlns:a16="http://schemas.microsoft.com/office/drawing/2014/main" id="{03FAF914-2876-4660-84E8-53044E86433A}"/>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Live on the floor. Still improving.</a:t>
            </a:r>
          </a:p>
        </p:txBody>
      </p:sp>
      <p:sp>
        <p:nvSpPr>
          <p:cNvPr id="5" name="">
            <a:extLst xmlns:a="http://schemas.openxmlformats.org/drawingml/2006/main">
              <a:ext uri="{FF2B5EF4-FFF2-40B4-BE49-F238E27FC236}">
                <a16:creationId xmlns:a16="http://schemas.microsoft.com/office/drawing/2014/main" id="{57CC94BF-9826-4781-9EB8-5C9F68D104D9}"/>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5</a:t>
            </a:r>
          </a:p>
        </p:txBody>
      </p:sp>
    </p:spTree>
    <p:extLst>
      <p:ext uri="{BB962C8B-B14F-4D97-AF65-F5344CB8AC3E}">
        <p14:creationId xmlns:p14="http://schemas.microsoft.com/office/powerpoint/2010/main" val="169070947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6A55543-0F7F-4253-894A-C076BE59934C}"/>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Centerfire inspection</a:t>
            </a:r>
          </a:p>
        </p:txBody>
      </p:sp>
      <p:sp>
        <p:nvSpPr>
          <p:cNvPr id="2" name="">
            <a:extLst xmlns:a="http://schemas.openxmlformats.org/drawingml/2006/main">
              <a:ext uri="{FF2B5EF4-FFF2-40B4-BE49-F238E27FC236}">
                <a16:creationId xmlns:a16="http://schemas.microsoft.com/office/drawing/2014/main" id="{926C9F3D-1388-48E1-9FEE-AB4AF078F39E}"/>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xmlns:a="http://schemas.openxmlformats.org/drawingml/2006/main">
            <a:pPr algn="l">
              <a:defRPr sz="3000" b="1" i="0">
                <a:solidFill>
                  <a:srgbClr val="FFFFFF"/>
                </a:solidFill>
              </a:defRPr>
            </a:pPr>
            <a:r>
              <a:rPr sz="3000" b="1" i="0">
                <a:solidFill>
                  <a:srgbClr val="FFFFFF"/>
                </a:solidFill>
              </a:rPr>
              <a:t>Inspection within</a:t>
            </a:r>
          </a:p>
          <a:p xmlns:a="http://schemas.openxmlformats.org/drawingml/2006/main">
            <a:pPr algn="l">
              <a:defRPr sz="3000" b="1" i="0">
                <a:solidFill>
                  <a:srgbClr val="FFFFFF"/>
                </a:solidFill>
              </a:defRPr>
            </a:pPr>
            <a:r>
              <a:rPr sz="3000" b="1" i="0">
                <a:solidFill>
                  <a:srgbClr val="FFFFFF"/>
                </a:solidFill>
              </a:rPr>
              <a:t>the production flow.</a:t>
            </a:r>
          </a:p>
        </p:txBody>
      </p:sp>
      <p:sp>
        <p:nvSpPr>
          <p:cNvPr id="3" name="">
            <a:extLst xmlns:a="http://schemas.openxmlformats.org/drawingml/2006/main">
              <a:ext uri="{FF2B5EF4-FFF2-40B4-BE49-F238E27FC236}">
                <a16:creationId xmlns:a16="http://schemas.microsoft.com/office/drawing/2014/main" id="{86869661-7923-4666-A624-BF6B59767AB3}"/>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The hardest part is earning trust.</a:t>
            </a:r>
          </a:p>
        </p:txBody>
      </p:sp>
      <p:sp>
        <p:nvSpPr>
          <p:cNvPr id="4" name="">
            <a:extLst xmlns:a="http://schemas.openxmlformats.org/drawingml/2006/main">
              <a:ext uri="{FF2B5EF4-FFF2-40B4-BE49-F238E27FC236}">
                <a16:creationId xmlns:a16="http://schemas.microsoft.com/office/drawing/2014/main" id="{CF2374BB-8E29-4381-A769-0118BB21ACC0}"/>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Live on the floor. Listen, show evidence, refine.</a:t>
            </a:r>
          </a:p>
        </p:txBody>
      </p:sp>
      <p:sp>
        <p:nvSpPr>
          <p:cNvPr id="5" name="">
            <a:extLst xmlns:a="http://schemas.openxmlformats.org/drawingml/2006/main">
              <a:ext uri="{FF2B5EF4-FFF2-40B4-BE49-F238E27FC236}">
                <a16:creationId xmlns:a16="http://schemas.microsoft.com/office/drawing/2014/main" id="{06DB4208-BDE1-4E55-BCB0-BCA695E4BBF2}"/>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6</a:t>
            </a:r>
          </a:p>
        </p:txBody>
      </p:sp>
    </p:spTree>
    <p:extLst>
      <p:ext uri="{BB962C8B-B14F-4D97-AF65-F5344CB8AC3E}">
        <p14:creationId xmlns:p14="http://schemas.microsoft.com/office/powerpoint/2010/main" val="12168160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97C40AE-E39E-4789-AD36-45F6CD21CE8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Shotshell inspection</a:t>
            </a:r>
          </a:p>
        </p:txBody>
      </p:sp>
      <p:sp>
        <p:nvSpPr>
          <p:cNvPr id="2" name="">
            <a:extLst xmlns:a="http://schemas.openxmlformats.org/drawingml/2006/main">
              <a:ext uri="{FF2B5EF4-FFF2-40B4-BE49-F238E27FC236}">
                <a16:creationId xmlns:a16="http://schemas.microsoft.com/office/drawing/2014/main" id="{C84E4475-AD51-4130-BC1F-08D755212D35}"/>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xmlns:a="http://schemas.openxmlformats.org/drawingml/2006/main">
            <a:pPr algn="l">
              <a:defRPr sz="3000" b="1" i="0">
                <a:solidFill>
                  <a:srgbClr val="FFFFFF"/>
                </a:solidFill>
              </a:defRPr>
            </a:pPr>
            <a:r>
              <a:rPr sz="3000" b="1" i="0">
                <a:solidFill>
                  <a:srgbClr val="FFFFFF"/>
                </a:solidFill>
              </a:rPr>
              <a:t>A different product.</a:t>
            </a:r>
          </a:p>
          <a:p xmlns:a="http://schemas.openxmlformats.org/drawingml/2006/main">
            <a:pPr algn="l">
              <a:defRPr sz="3000" b="1" i="0">
                <a:solidFill>
                  <a:srgbClr val="FFFFFF"/>
                </a:solidFill>
              </a:defRPr>
            </a:pPr>
            <a:r>
              <a:rPr sz="3000" b="1" i="0">
                <a:solidFill>
                  <a:srgbClr val="FFFFFF"/>
                </a:solidFill>
              </a:rPr>
              <a:t>A new visual challenge.</a:t>
            </a:r>
          </a:p>
        </p:txBody>
      </p:sp>
      <p:sp>
        <p:nvSpPr>
          <p:cNvPr id="3" name="">
            <a:extLst xmlns:a="http://schemas.openxmlformats.org/drawingml/2006/main">
              <a:ext uri="{FF2B5EF4-FFF2-40B4-BE49-F238E27FC236}">
                <a16:creationId xmlns:a16="http://schemas.microsoft.com/office/drawing/2014/main" id="{276AE210-F0E0-4F6E-A338-A685E8166E78}"/>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Adapt the view. Fit the result to the line.</a:t>
            </a:r>
          </a:p>
        </p:txBody>
      </p:sp>
      <p:sp>
        <p:nvSpPr>
          <p:cNvPr id="4" name="">
            <a:extLst xmlns:a="http://schemas.openxmlformats.org/drawingml/2006/main">
              <a:ext uri="{FF2B5EF4-FFF2-40B4-BE49-F238E27FC236}">
                <a16:creationId xmlns:a16="http://schemas.microsoft.com/office/drawing/2014/main" id="{54BE6D36-C7F3-4EA4-83B7-AE6184F55252}"/>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Live on the floor. Tailored to a different product.</a:t>
            </a:r>
          </a:p>
        </p:txBody>
      </p:sp>
      <p:sp>
        <p:nvSpPr>
          <p:cNvPr id="5" name="">
            <a:extLst xmlns:a="http://schemas.openxmlformats.org/drawingml/2006/main">
              <a:ext uri="{FF2B5EF4-FFF2-40B4-BE49-F238E27FC236}">
                <a16:creationId xmlns:a16="http://schemas.microsoft.com/office/drawing/2014/main" id="{5D7C745D-7A94-4624-B451-C5C2175DCFCD}"/>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7</a:t>
            </a:r>
          </a:p>
        </p:txBody>
      </p:sp>
    </p:spTree>
    <p:extLst>
      <p:ext uri="{BB962C8B-B14F-4D97-AF65-F5344CB8AC3E}">
        <p14:creationId xmlns:p14="http://schemas.microsoft.com/office/powerpoint/2010/main" val="81761527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9169A71-A6A6-4D68-A8E6-A77BFDCC1A50}"/>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Public sentiment</a:t>
            </a:r>
          </a:p>
        </p:txBody>
      </p:sp>
      <p:sp>
        <p:nvSpPr>
          <p:cNvPr id="2" name="">
            <a:extLst xmlns:a="http://schemas.openxmlformats.org/drawingml/2006/main">
              <a:ext uri="{FF2B5EF4-FFF2-40B4-BE49-F238E27FC236}">
                <a16:creationId xmlns:a16="http://schemas.microsoft.com/office/drawing/2014/main" id="{8BC55663-6D9E-4CB9-A0C0-CD82593429E5}"/>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xmlns:a="http://schemas.openxmlformats.org/drawingml/2006/main">
            <a:pPr algn="l">
              <a:defRPr sz="3150" b="1" i="0">
                <a:solidFill>
                  <a:srgbClr val="FFFFFF"/>
                </a:solidFill>
              </a:defRPr>
            </a:pPr>
            <a:r>
              <a:rPr sz="3150" b="1" i="0">
                <a:solidFill>
                  <a:srgbClr val="FFFFFF"/>
                </a:solidFill>
              </a:rPr>
              <a:t>Hear the market</a:t>
            </a:r>
          </a:p>
          <a:p xmlns:a="http://schemas.openxmlformats.org/drawingml/2006/main">
            <a:pPr algn="l">
              <a:defRPr sz="3150" b="1" i="0">
                <a:solidFill>
                  <a:srgbClr val="FFFFFF"/>
                </a:solidFill>
              </a:defRPr>
            </a:pPr>
            <a:r>
              <a:rPr sz="3150" b="1" i="0">
                <a:solidFill>
                  <a:srgbClr val="FFFFFF"/>
                </a:solidFill>
              </a:rPr>
              <a:t>in its own words.</a:t>
            </a:r>
          </a:p>
        </p:txBody>
      </p:sp>
      <p:sp>
        <p:nvSpPr>
          <p:cNvPr id="3" name="">
            <a:extLst xmlns:a="http://schemas.openxmlformats.org/drawingml/2006/main">
              <a:ext uri="{FF2B5EF4-FFF2-40B4-BE49-F238E27FC236}">
                <a16:creationId xmlns:a16="http://schemas.microsoft.com/office/drawing/2014/main" id="{970F8F99-6B76-406C-B124-329BF7799FD4}"/>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Find themes. Read the original sources.</a:t>
            </a:r>
          </a:p>
        </p:txBody>
      </p:sp>
      <p:sp>
        <p:nvSpPr>
          <p:cNvPr id="4" name="">
            <a:extLst xmlns:a="http://schemas.openxmlformats.org/drawingml/2006/main">
              <a:ext uri="{FF2B5EF4-FFF2-40B4-BE49-F238E27FC236}">
                <a16:creationId xmlns:a16="http://schemas.microsoft.com/office/drawing/2014/main" id="{2A7FD83D-EC31-488F-A857-5182A136457F}"/>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xmlns:a="http://schemas.openxmlformats.org/drawingml/2006/main">
            <a:pPr algn="l">
              <a:defRPr sz="1950" b="0" i="0">
                <a:solidFill>
                  <a:srgbClr val="D5D8DA"/>
                </a:solidFill>
              </a:defRPr>
            </a:pPr>
            <a:r>
              <a:rPr sz="1950" b="0" i="0">
                <a:solidFill>
                  <a:srgbClr val="D5D8DA"/>
                </a:solidFill>
              </a:rPr>
              <a:t>For product and business decisions.</a:t>
            </a:r>
          </a:p>
        </p:txBody>
      </p:sp>
      <p:sp>
        <p:nvSpPr>
          <p:cNvPr id="5" name="">
            <a:extLst xmlns:a="http://schemas.openxmlformats.org/drawingml/2006/main">
              <a:ext uri="{FF2B5EF4-FFF2-40B4-BE49-F238E27FC236}">
                <a16:creationId xmlns:a16="http://schemas.microsoft.com/office/drawing/2014/main" id="{213CBF53-273E-4CB1-9E7D-E925F4C5B27C}"/>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8</a:t>
            </a:r>
          </a:p>
        </p:txBody>
      </p:sp>
    </p:spTree>
    <p:extLst>
      <p:ext uri="{BB962C8B-B14F-4D97-AF65-F5344CB8AC3E}">
        <p14:creationId xmlns:p14="http://schemas.microsoft.com/office/powerpoint/2010/main" val="88867072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AF223D5-A488-414E-A462-5C4A1E42C6A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xmlns:a="http://schemas.openxmlformats.org/drawingml/2006/main">
            <a:pPr algn="l">
              <a:defRPr sz="3000" b="0" i="0">
                <a:solidFill>
                  <a:srgbClr val="FFFFFF"/>
                </a:solidFill>
              </a:defRPr>
            </a:pPr>
            <a:r>
              <a:rPr sz="3000" b="0" i="0">
                <a:solidFill>
                  <a:srgbClr val="FFFFFF"/>
                </a:solidFill>
              </a:rPr>
              <a:t>Remi</a:t>
            </a:r>
          </a:p>
        </p:txBody>
      </p:sp>
      <p:sp>
        <p:nvSpPr>
          <p:cNvPr id="2" name="">
            <a:extLst xmlns:a="http://schemas.openxmlformats.org/drawingml/2006/main">
              <a:ext uri="{FF2B5EF4-FFF2-40B4-BE49-F238E27FC236}">
                <a16:creationId xmlns:a16="http://schemas.microsoft.com/office/drawing/2014/main" id="{1BFEDFD2-0146-4D95-BA97-A7B47EEB3B64}"/>
              </a:ext>
            </a:extLst>
          </p:cNvPr>
          <p:cNvSpPr>
            <a:spLocks xmlns:a="http://schemas.openxmlformats.org/drawingml/2006/main" noGrp="1"/>
          </p:cNvSpPr>
          <p:nvPr/>
        </p:nvSpPr>
        <p:spPr>
          <a:xfrm xmlns:a="http://schemas.openxmlformats.org/drawingml/2006/main">
            <a:off x="723900" y="2676525"/>
            <a:ext cx="77343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xmlns:a="http://schemas.openxmlformats.org/drawingml/2006/main">
            <a:pPr algn="l">
              <a:defRPr sz="3075" b="1" i="0">
                <a:solidFill>
                  <a:srgbClr val="FFFFFF"/>
                </a:solidFill>
              </a:defRPr>
            </a:pPr>
            <a:r>
              <a:rPr sz="3075" b="1" i="0">
                <a:solidFill>
                  <a:srgbClr val="FFFFFF"/>
                </a:solidFill>
              </a:rPr>
              <a:t>Engineering knowledge,</a:t>
            </a:r>
          </a:p>
          <a:p xmlns:a="http://schemas.openxmlformats.org/drawingml/2006/main">
            <a:pPr algn="l">
              <a:defRPr sz="3075" b="1" i="0">
                <a:solidFill>
                  <a:srgbClr val="FFFFFF"/>
                </a:solidFill>
              </a:defRPr>
            </a:pPr>
            <a:r>
              <a:rPr sz="3075" b="1" i="0">
                <a:solidFill>
                  <a:srgbClr val="FFFFFF"/>
                </a:solidFill>
              </a:rPr>
              <a:t>close to the work.</a:t>
            </a:r>
          </a:p>
        </p:txBody>
      </p:sp>
      <p:sp>
        <p:nvSpPr>
          <p:cNvPr id="3" name="">
            <a:extLst xmlns:a="http://schemas.openxmlformats.org/drawingml/2006/main">
              <a:ext uri="{FF2B5EF4-FFF2-40B4-BE49-F238E27FC236}">
                <a16:creationId xmlns:a16="http://schemas.microsoft.com/office/drawing/2014/main" id="{BD8213E9-5644-4047-95F1-E472A38048AB}"/>
              </a:ext>
            </a:extLst>
          </p:cNvPr>
          <p:cNvSpPr>
            <a:spLocks xmlns:a="http://schemas.openxmlformats.org/drawingml/2006/main" noGrp="1"/>
          </p:cNvSpPr>
          <p:nvPr/>
        </p:nvSpPr>
        <p:spPr>
          <a:xfrm xmlns:a="http://schemas.openxmlformats.org/drawingml/2006/main">
            <a:off x="723900" y="4371975"/>
            <a:ext cx="7734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xmlns:a="http://schemas.openxmlformats.org/drawingml/2006/main">
            <a:pPr algn="l">
              <a:defRPr sz="2250" b="0" i="0">
                <a:solidFill>
                  <a:srgbClr val="BEA06A"/>
                </a:solidFill>
              </a:defRPr>
            </a:pPr>
            <a:r>
              <a:rPr sz="2250" b="0" i="0">
                <a:solidFill>
                  <a:srgbClr val="BEA06A"/>
                </a:solidFill>
              </a:rPr>
              <a:t>Ask. Find project knowledge. Verify.</a:t>
            </a:r>
          </a:p>
        </p:txBody>
      </p:sp>
      <p:sp>
        <p:nvSpPr>
          <p:cNvPr id="4" name="">
            <a:extLst xmlns:a="http://schemas.openxmlformats.org/drawingml/2006/main">
              <a:ext uri="{FF2B5EF4-FFF2-40B4-BE49-F238E27FC236}">
                <a16:creationId xmlns:a16="http://schemas.microsoft.com/office/drawing/2014/main" id="{8315D9D2-247B-4CDB-982B-84685C618977}"/>
              </a:ext>
            </a:extLst>
          </p:cNvPr>
          <p:cNvSpPr>
            <a:spLocks xmlns:a="http://schemas.openxmlformats.org/drawingml/2006/main" noGrp="1"/>
          </p:cNvSpPr>
          <p:nvPr/>
        </p:nvSpPr>
        <p:spPr>
          <a:xfrm xmlns:a="http://schemas.openxmlformats.org/drawingml/2006/main">
            <a:off x="723900" y="5400675"/>
            <a:ext cx="7677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xmlns:a="http://schemas.openxmlformats.org/drawingml/2006/main">
            <a:pPr algn="l">
              <a:defRPr sz="1875" b="0" i="0">
                <a:solidFill>
                  <a:srgbClr val="D5D8DA"/>
                </a:solidFill>
              </a:defRPr>
            </a:pPr>
            <a:r>
              <a:rPr sz="1875" b="0" i="0">
                <a:solidFill>
                  <a:srgbClr val="D5D8DA"/>
                </a:solidFill>
              </a:rPr>
              <a:t>Local model and scoped tools for engineering.</a:t>
            </a:r>
          </a:p>
        </p:txBody>
      </p:sp>
      <p:sp>
        <p:nvSpPr>
          <p:cNvPr id="5" name="">
            <a:extLst xmlns:a="http://schemas.openxmlformats.org/drawingml/2006/main">
              <a:ext uri="{FF2B5EF4-FFF2-40B4-BE49-F238E27FC236}">
                <a16:creationId xmlns:a16="http://schemas.microsoft.com/office/drawing/2014/main" id="{DA675A15-AC6E-4B3B-A3C6-661491364A59}"/>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xmlns:a="http://schemas.openxmlformats.org/drawingml/2006/main">
            <a:pPr algn="l">
              <a:defRPr sz="1125" b="1" i="0">
                <a:solidFill>
                  <a:srgbClr val="000000"/>
                </a:solidFill>
              </a:defRPr>
            </a:pPr>
            <a:r>
              <a:rPr sz="1125" b="1" i="0">
                <a:solidFill>
                  <a:srgbClr val="000000"/>
                </a:solidFill>
              </a:rPr>
              <a:t>9</a:t>
            </a:r>
          </a:p>
        </p:txBody>
      </p:sp>
    </p:spTree>
    <p:extLst>
      <p:ext uri="{BB962C8B-B14F-4D97-AF65-F5344CB8AC3E}">
        <p14:creationId xmlns:p14="http://schemas.microsoft.com/office/powerpoint/2010/main" val="50373995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FA85AD2-4C6D-41EF-BDC8-64159D097DF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Why we love this work</a:t>
            </a:r>
          </a:p>
        </p:txBody>
      </p:sp>
      <p:sp>
        <p:nvSpPr>
          <p:cNvPr id="2" name="">
            <a:extLst xmlns:a="http://schemas.openxmlformats.org/drawingml/2006/main">
              <a:ext uri="{FF2B5EF4-FFF2-40B4-BE49-F238E27FC236}">
                <a16:creationId xmlns:a16="http://schemas.microsoft.com/office/drawing/2014/main" id="{F977F1D9-1B3B-4F10-BB61-ACD7FD77573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10</a:t>
            </a:r>
          </a:p>
        </p:txBody>
      </p:sp>
      <p:sp>
        <p:nvSpPr>
          <p:cNvPr id="3" name="">
            <a:extLst xmlns:a="http://schemas.openxmlformats.org/drawingml/2006/main">
              <a:ext uri="{FF2B5EF4-FFF2-40B4-BE49-F238E27FC236}">
                <a16:creationId xmlns:a16="http://schemas.microsoft.com/office/drawing/2014/main" id="{1D6CBC50-C279-4861-87F5-D957614B2EA6}"/>
              </a:ext>
            </a:extLst>
          </p:cNvPr>
          <p:cNvSpPr>
            <a:spLocks xmlns:a="http://schemas.openxmlformats.org/drawingml/2006/main" noGrp="1"/>
          </p:cNvSpPr>
          <p:nvPr/>
        </p:nvSpPr>
        <p:spPr>
          <a:xfrm xmlns:a="http://schemas.openxmlformats.org/drawingml/2006/main">
            <a:off x="72390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VARIETY</a:t>
            </a:r>
          </a:p>
        </p:txBody>
      </p:sp>
      <p:sp>
        <p:nvSpPr>
          <p:cNvPr id="4" name="">
            <a:extLst xmlns:a="http://schemas.openxmlformats.org/drawingml/2006/main">
              <a:ext uri="{FF2B5EF4-FFF2-40B4-BE49-F238E27FC236}">
                <a16:creationId xmlns:a16="http://schemas.microsoft.com/office/drawing/2014/main" id="{F4E9C001-20D1-4DD6-BBCD-4FCD600D1E5B}"/>
              </a:ext>
            </a:extLst>
          </p:cNvPr>
          <p:cNvSpPr>
            <a:spLocks xmlns:a="http://schemas.openxmlformats.org/drawingml/2006/main" noGrp="1"/>
          </p:cNvSpPr>
          <p:nvPr/>
        </p:nvSpPr>
        <p:spPr>
          <a:xfrm xmlns:a="http://schemas.openxmlformats.org/drawingml/2006/main">
            <a:off x="72390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AI, software, machines</a:t>
            </a:r>
          </a:p>
        </p:txBody>
      </p:sp>
      <p:sp>
        <p:nvSpPr>
          <p:cNvPr id="5" name="">
            <a:extLst xmlns:a="http://schemas.openxmlformats.org/drawingml/2006/main">
              <a:ext uri="{FF2B5EF4-FFF2-40B4-BE49-F238E27FC236}">
                <a16:creationId xmlns:a16="http://schemas.microsoft.com/office/drawing/2014/main" id="{84EAA43C-6C73-4ACF-881D-7CB0D03E84AE}"/>
              </a:ext>
            </a:extLst>
          </p:cNvPr>
          <p:cNvSpPr>
            <a:spLocks xmlns:a="http://schemas.openxmlformats.org/drawingml/2006/main" noGrp="1"/>
          </p:cNvSpPr>
          <p:nvPr/>
        </p:nvSpPr>
        <p:spPr>
          <a:xfrm xmlns:a="http://schemas.openxmlformats.org/drawingml/2006/main">
            <a:off x="4857750" y="26860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FREEDOM</a:t>
            </a:r>
          </a:p>
        </p:txBody>
      </p:sp>
      <p:sp>
        <p:nvSpPr>
          <p:cNvPr id="6" name="">
            <a:extLst xmlns:a="http://schemas.openxmlformats.org/drawingml/2006/main">
              <a:ext uri="{FF2B5EF4-FFF2-40B4-BE49-F238E27FC236}">
                <a16:creationId xmlns:a16="http://schemas.microsoft.com/office/drawing/2014/main" id="{78523446-C2A7-486D-A964-356B4DB41418}"/>
              </a:ext>
            </a:extLst>
          </p:cNvPr>
          <p:cNvSpPr>
            <a:spLocks xmlns:a="http://schemas.openxmlformats.org/drawingml/2006/main" noGrp="1"/>
          </p:cNvSpPr>
          <p:nvPr/>
        </p:nvSpPr>
        <p:spPr>
          <a:xfrm xmlns:a="http://schemas.openxmlformats.org/drawingml/2006/main">
            <a:off x="4857750" y="32194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Room to explore ideas</a:t>
            </a:r>
          </a:p>
        </p:txBody>
      </p:sp>
      <p:sp>
        <p:nvSpPr>
          <p:cNvPr id="7" name="">
            <a:extLst xmlns:a="http://schemas.openxmlformats.org/drawingml/2006/main">
              <a:ext uri="{FF2B5EF4-FFF2-40B4-BE49-F238E27FC236}">
                <a16:creationId xmlns:a16="http://schemas.microsoft.com/office/drawing/2014/main" id="{29E64668-D269-420C-98DD-9FAD60EEE8CC}"/>
              </a:ext>
            </a:extLst>
          </p:cNvPr>
          <p:cNvSpPr>
            <a:spLocks xmlns:a="http://schemas.openxmlformats.org/drawingml/2006/main" noGrp="1"/>
          </p:cNvSpPr>
          <p:nvPr/>
        </p:nvSpPr>
        <p:spPr>
          <a:xfrm xmlns:a="http://schemas.openxmlformats.org/drawingml/2006/main">
            <a:off x="72390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OWNERSHIP</a:t>
            </a:r>
          </a:p>
        </p:txBody>
      </p:sp>
      <p:sp>
        <p:nvSpPr>
          <p:cNvPr id="8" name="">
            <a:extLst xmlns:a="http://schemas.openxmlformats.org/drawingml/2006/main">
              <a:ext uri="{FF2B5EF4-FFF2-40B4-BE49-F238E27FC236}">
                <a16:creationId xmlns:a16="http://schemas.microsoft.com/office/drawing/2014/main" id="{5BE92EAC-3DBA-4E31-9DE2-09E6E99F4B15}"/>
              </a:ext>
            </a:extLst>
          </p:cNvPr>
          <p:cNvSpPr>
            <a:spLocks xmlns:a="http://schemas.openxmlformats.org/drawingml/2006/main" noGrp="1"/>
          </p:cNvSpPr>
          <p:nvPr/>
        </p:nvSpPr>
        <p:spPr>
          <a:xfrm xmlns:a="http://schemas.openxmlformats.org/drawingml/2006/main">
            <a:off x="72390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Carry ideas into use</a:t>
            </a:r>
          </a:p>
        </p:txBody>
      </p:sp>
      <p:sp>
        <p:nvSpPr>
          <p:cNvPr id="9" name="">
            <a:extLst xmlns:a="http://schemas.openxmlformats.org/drawingml/2006/main">
              <a:ext uri="{FF2B5EF4-FFF2-40B4-BE49-F238E27FC236}">
                <a16:creationId xmlns:a16="http://schemas.microsoft.com/office/drawing/2014/main" id="{529696B3-7E61-48F8-8669-C7D99D87BC1D}"/>
              </a:ext>
            </a:extLst>
          </p:cNvPr>
          <p:cNvSpPr>
            <a:spLocks xmlns:a="http://schemas.openxmlformats.org/drawingml/2006/main" noGrp="1"/>
          </p:cNvSpPr>
          <p:nvPr/>
        </p:nvSpPr>
        <p:spPr>
          <a:xfrm xmlns:a="http://schemas.openxmlformats.org/drawingml/2006/main">
            <a:off x="4857750" y="4362450"/>
            <a:ext cx="35242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GROWTH</a:t>
            </a:r>
          </a:p>
        </p:txBody>
      </p:sp>
      <p:sp>
        <p:nvSpPr>
          <p:cNvPr id="10" name="">
            <a:extLst xmlns:a="http://schemas.openxmlformats.org/drawingml/2006/main">
              <a:ext uri="{FF2B5EF4-FFF2-40B4-BE49-F238E27FC236}">
                <a16:creationId xmlns:a16="http://schemas.microsoft.com/office/drawing/2014/main" id="{FBA41055-B537-4BAD-9716-3374AA39CB9D}"/>
              </a:ext>
            </a:extLst>
          </p:cNvPr>
          <p:cNvSpPr>
            <a:spLocks xmlns:a="http://schemas.openxmlformats.org/drawingml/2006/main" noGrp="1"/>
          </p:cNvSpPr>
          <p:nvPr/>
        </p:nvSpPr>
        <p:spPr>
          <a:xfrm xmlns:a="http://schemas.openxmlformats.org/drawingml/2006/main">
            <a:off x="4857750" y="4895850"/>
            <a:ext cx="3667125"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xmlns:a="http://schemas.openxmlformats.org/drawingml/2006/main">
            <a:pPr algn="l">
              <a:buNone/>
              <a:defRPr sz="1800" b="0" i="0">
                <a:solidFill>
                  <a:srgbClr val="FFFFFF"/>
                </a:solidFill>
              </a:defRPr>
            </a:pPr>
            <a:r>
              <a:rPr sz="1800" b="0" i="0">
                <a:solidFill>
                  <a:srgbClr val="FFFFFF"/>
                </a:solidFill>
              </a:rPr>
              <a:t>Unexpected opportunities</a:t>
            </a:r>
          </a:p>
        </p:txBody>
      </p:sp>
    </p:spTree>
    <p:extLst>
      <p:ext uri="{BB962C8B-B14F-4D97-AF65-F5344CB8AC3E}">
        <p14:creationId xmlns:p14="http://schemas.microsoft.com/office/powerpoint/2010/main" val="63961946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4F53755-D18B-494F-91B3-4A8CF82CB40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Live demonstration</a:t>
            </a:r>
          </a:p>
        </p:txBody>
      </p:sp>
      <p:sp>
        <p:nvSpPr>
          <p:cNvPr id="2" name="">
            <a:extLst xmlns:a="http://schemas.openxmlformats.org/drawingml/2006/main">
              <a:ext uri="{FF2B5EF4-FFF2-40B4-BE49-F238E27FC236}">
                <a16:creationId xmlns:a16="http://schemas.microsoft.com/office/drawing/2014/main" id="{53B10451-B5D7-47AF-BD80-1C675D94DD64}"/>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11</a:t>
            </a:r>
          </a:p>
        </p:txBody>
      </p:sp>
      <p:sp>
        <p:nvSpPr>
          <p:cNvPr id="3" name="">
            <a:extLst xmlns:a="http://schemas.openxmlformats.org/drawingml/2006/main">
              <a:ext uri="{FF2B5EF4-FFF2-40B4-BE49-F238E27FC236}">
                <a16:creationId xmlns:a16="http://schemas.microsoft.com/office/drawing/2014/main" id="{6C991B4C-C3C7-4221-B8C0-A3450B46C642}"/>
              </a:ext>
            </a:extLst>
          </p:cNvPr>
          <p:cNvSpPr>
            <a:spLocks xmlns:a="http://schemas.openxmlformats.org/drawingml/2006/main" noGrp="1"/>
          </p:cNvSpPr>
          <p:nvPr/>
        </p:nvSpPr>
        <p:spPr>
          <a:xfrm xmlns:a="http://schemas.openxmlformats.org/drawingml/2006/main">
            <a:off x="723900" y="3067050"/>
            <a:ext cx="7810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xmlns:a="http://schemas.openxmlformats.org/drawingml/2006/main">
            <a:pPr algn="l">
              <a:buNone/>
              <a:defRPr sz="3600" b="1" i="0">
                <a:solidFill>
                  <a:srgbClr val="FFFFFF"/>
                </a:solidFill>
              </a:defRPr>
            </a:pPr>
            <a:r>
              <a:rPr sz="3600" b="1" i="0">
                <a:solidFill>
                  <a:srgbClr val="FFFFFF"/>
                </a:solidFill>
              </a:rPr>
              <a:t>CAMERA  →  AI  →  ACTION</a:t>
            </a:r>
          </a:p>
        </p:txBody>
      </p:sp>
      <p:sp>
        <p:nvSpPr>
          <p:cNvPr id="4" name="">
            <a:extLst xmlns:a="http://schemas.openxmlformats.org/drawingml/2006/main">
              <a:ext uri="{FF2B5EF4-FFF2-40B4-BE49-F238E27FC236}">
                <a16:creationId xmlns:a16="http://schemas.microsoft.com/office/drawing/2014/main" id="{6D1BD60B-FA35-47C3-B6E1-5A7A523CA7B8}"/>
              </a:ext>
            </a:extLst>
          </p:cNvPr>
          <p:cNvSpPr>
            <a:spLocks xmlns:a="http://schemas.openxmlformats.org/drawingml/2006/main" noGrp="1"/>
          </p:cNvSpPr>
          <p:nvPr/>
        </p:nvSpPr>
        <p:spPr>
          <a:xfrm xmlns:a="http://schemas.openxmlformats.org/drawingml/2006/main">
            <a:off x="733425" y="4267200"/>
            <a:ext cx="7677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xmlns:a="http://schemas.openxmlformats.org/drawingml/2006/main">
            <a:pPr algn="l">
              <a:buNone/>
              <a:defRPr sz="2250" b="0" i="0">
                <a:solidFill>
                  <a:srgbClr val="BEA06A"/>
                </a:solidFill>
              </a:defRPr>
            </a:pPr>
            <a:r>
              <a:rPr sz="2250" b="0" i="0">
                <a:solidFill>
                  <a:srgbClr val="BEA06A"/>
                </a:solidFill>
              </a:rPr>
              <a:t>Gatorade bottles  ·  on-screen sorting</a:t>
            </a:r>
          </a:p>
        </p:txBody>
      </p:sp>
    </p:spTree>
    <p:extLst>
      <p:ext uri="{BB962C8B-B14F-4D97-AF65-F5344CB8AC3E}">
        <p14:creationId xmlns:p14="http://schemas.microsoft.com/office/powerpoint/2010/main" val="389409563"/>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F7533C-A063-4877-8F2C-12238601AFB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The hard problems</a:t>
            </a:r>
          </a:p>
        </p:txBody>
      </p:sp>
      <p:sp>
        <p:nvSpPr>
          <p:cNvPr id="2" name="">
            <a:extLst xmlns:a="http://schemas.openxmlformats.org/drawingml/2006/main">
              <a:ext uri="{FF2B5EF4-FFF2-40B4-BE49-F238E27FC236}">
                <a16:creationId xmlns:a16="http://schemas.microsoft.com/office/drawing/2014/main" id="{C10B698F-57F2-43CA-9802-0D85442CA123}"/>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12</a:t>
            </a:r>
          </a:p>
        </p:txBody>
      </p:sp>
      <p:sp>
        <p:nvSpPr>
          <p:cNvPr id="3" name="">
            <a:extLst xmlns:a="http://schemas.openxmlformats.org/drawingml/2006/main">
              <a:ext uri="{FF2B5EF4-FFF2-40B4-BE49-F238E27FC236}">
                <a16:creationId xmlns:a16="http://schemas.microsoft.com/office/drawing/2014/main" id="{F0958AEF-88D8-43CA-BDE1-77631A11F538}"/>
              </a:ext>
            </a:extLst>
          </p:cNvPr>
          <p:cNvSpPr>
            <a:spLocks xmlns:a="http://schemas.openxmlformats.org/drawingml/2006/main" noGrp="1"/>
          </p:cNvSpPr>
          <p:nvPr/>
        </p:nvSpPr>
        <p:spPr>
          <a:xfrm xmlns:a="http://schemas.openxmlformats.org/drawingml/2006/main">
            <a:off x="723900" y="2600325"/>
            <a:ext cx="77533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xmlns:a="http://schemas.openxmlformats.org/drawingml/2006/main">
            <a:pPr algn="l">
              <a:buNone/>
              <a:defRPr sz="2100" b="0" i="0">
                <a:solidFill>
                  <a:srgbClr val="FFFFFF"/>
                </a:solidFill>
              </a:defRPr>
            </a:pPr>
            <a:r>
              <a:rPr sz="2100" b="0" i="0">
                <a:solidFill>
                  <a:srgbClr val="FFFFFF"/>
                </a:solidFill>
              </a:rPr>
              <a:t>The floor changes. The system must keep working.</a:t>
            </a:r>
          </a:p>
        </p:txBody>
      </p:sp>
      <p:sp>
        <p:nvSpPr>
          <p:cNvPr id="4" name="">
            <a:extLst xmlns:a="http://schemas.openxmlformats.org/drawingml/2006/main">
              <a:ext uri="{FF2B5EF4-FFF2-40B4-BE49-F238E27FC236}">
                <a16:creationId xmlns:a16="http://schemas.microsoft.com/office/drawing/2014/main" id="{973D8A1D-4FB8-41E9-80F1-1E41891BE0A3}"/>
              </a:ext>
            </a:extLst>
          </p:cNvPr>
          <p:cNvSpPr>
            <a:spLocks xmlns:a="http://schemas.openxmlformats.org/drawingml/2006/main" noGrp="1"/>
          </p:cNvSpPr>
          <p:nvPr/>
        </p:nvSpPr>
        <p:spPr>
          <a:xfrm xmlns:a="http://schemas.openxmlformats.org/drawingml/2006/main">
            <a:off x="72390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VARIATION</a:t>
            </a:r>
          </a:p>
        </p:txBody>
      </p:sp>
      <p:sp>
        <p:nvSpPr>
          <p:cNvPr id="5" name="">
            <a:extLst xmlns:a="http://schemas.openxmlformats.org/drawingml/2006/main">
              <a:ext uri="{FF2B5EF4-FFF2-40B4-BE49-F238E27FC236}">
                <a16:creationId xmlns:a16="http://schemas.microsoft.com/office/drawing/2014/main" id="{CB957D22-3EC9-4AC0-ADE8-21CB7AB27045}"/>
              </a:ext>
            </a:extLst>
          </p:cNvPr>
          <p:cNvSpPr>
            <a:spLocks xmlns:a="http://schemas.openxmlformats.org/drawingml/2006/main" noGrp="1"/>
          </p:cNvSpPr>
          <p:nvPr/>
        </p:nvSpPr>
        <p:spPr>
          <a:xfrm xmlns:a="http://schemas.openxmlformats.org/drawingml/2006/main">
            <a:off x="72390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Conditions change</a:t>
            </a:r>
          </a:p>
        </p:txBody>
      </p:sp>
      <p:sp>
        <p:nvSpPr>
          <p:cNvPr id="6" name="">
            <a:extLst xmlns:a="http://schemas.openxmlformats.org/drawingml/2006/main">
              <a:ext uri="{FF2B5EF4-FFF2-40B4-BE49-F238E27FC236}">
                <a16:creationId xmlns:a16="http://schemas.microsoft.com/office/drawing/2014/main" id="{0ACA5BE1-2F32-48F9-912B-DA8A3F95F80E}"/>
              </a:ext>
            </a:extLst>
          </p:cNvPr>
          <p:cNvSpPr>
            <a:spLocks xmlns:a="http://schemas.openxmlformats.org/drawingml/2006/main" noGrp="1"/>
          </p:cNvSpPr>
          <p:nvPr/>
        </p:nvSpPr>
        <p:spPr>
          <a:xfrm xmlns:a="http://schemas.openxmlformats.org/drawingml/2006/main">
            <a:off x="3419475"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TIMING</a:t>
            </a:r>
          </a:p>
        </p:txBody>
      </p:sp>
      <p:sp>
        <p:nvSpPr>
          <p:cNvPr id="7" name="">
            <a:extLst xmlns:a="http://schemas.openxmlformats.org/drawingml/2006/main">
              <a:ext uri="{FF2B5EF4-FFF2-40B4-BE49-F238E27FC236}">
                <a16:creationId xmlns:a16="http://schemas.microsoft.com/office/drawing/2014/main" id="{DF3BA347-B4A6-4CC0-8DF7-EAFC2872E248}"/>
              </a:ext>
            </a:extLst>
          </p:cNvPr>
          <p:cNvSpPr>
            <a:spLocks xmlns:a="http://schemas.openxmlformats.org/drawingml/2006/main" noGrp="1"/>
          </p:cNvSpPr>
          <p:nvPr/>
        </p:nvSpPr>
        <p:spPr>
          <a:xfrm xmlns:a="http://schemas.openxmlformats.org/drawingml/2006/main">
            <a:off x="3419475"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Decisions at pace</a:t>
            </a:r>
          </a:p>
        </p:txBody>
      </p:sp>
      <p:sp>
        <p:nvSpPr>
          <p:cNvPr id="8" name="">
            <a:extLst xmlns:a="http://schemas.openxmlformats.org/drawingml/2006/main">
              <a:ext uri="{FF2B5EF4-FFF2-40B4-BE49-F238E27FC236}">
                <a16:creationId xmlns:a16="http://schemas.microsoft.com/office/drawing/2014/main" id="{6EBE70AE-F7A4-4D9A-8BBE-8960AD146CEF}"/>
              </a:ext>
            </a:extLst>
          </p:cNvPr>
          <p:cNvSpPr>
            <a:spLocks xmlns:a="http://schemas.openxmlformats.org/drawingml/2006/main" noGrp="1"/>
          </p:cNvSpPr>
          <p:nvPr/>
        </p:nvSpPr>
        <p:spPr>
          <a:xfrm xmlns:a="http://schemas.openxmlformats.org/drawingml/2006/main">
            <a:off x="6229350" y="3667125"/>
            <a:ext cx="2533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RELIABILITY</a:t>
            </a:r>
          </a:p>
        </p:txBody>
      </p:sp>
      <p:sp>
        <p:nvSpPr>
          <p:cNvPr id="9" name="">
            <a:extLst xmlns:a="http://schemas.openxmlformats.org/drawingml/2006/main">
              <a:ext uri="{FF2B5EF4-FFF2-40B4-BE49-F238E27FC236}">
                <a16:creationId xmlns:a16="http://schemas.microsoft.com/office/drawing/2014/main" id="{86C1E48F-1B7B-450A-B6BD-8D16F79DE8A6}"/>
              </a:ext>
            </a:extLst>
          </p:cNvPr>
          <p:cNvSpPr>
            <a:spLocks xmlns:a="http://schemas.openxmlformats.org/drawingml/2006/main" noGrp="1"/>
          </p:cNvSpPr>
          <p:nvPr/>
        </p:nvSpPr>
        <p:spPr>
          <a:xfrm xmlns:a="http://schemas.openxmlformats.org/drawingml/2006/main">
            <a:off x="6229350" y="4219575"/>
            <a:ext cx="25241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xmlns:a="http://schemas.openxmlformats.org/drawingml/2006/main">
            <a:pPr algn="l">
              <a:buNone/>
              <a:defRPr sz="1725" b="0" i="0">
                <a:solidFill>
                  <a:srgbClr val="FFFFFF"/>
                </a:solidFill>
              </a:defRPr>
            </a:pPr>
            <a:r>
              <a:rPr sz="1725" b="0" i="0">
                <a:solidFill>
                  <a:srgbClr val="FFFFFF"/>
                </a:solidFill>
              </a:rPr>
              <a:t>Results people trust</a:t>
            </a:r>
          </a:p>
        </p:txBody>
      </p:sp>
      <p:sp>
        <p:nvSpPr>
          <p:cNvPr id="10" name="">
            <a:extLst xmlns:a="http://schemas.openxmlformats.org/drawingml/2006/main">
              <a:ext uri="{FF2B5EF4-FFF2-40B4-BE49-F238E27FC236}">
                <a16:creationId xmlns:a16="http://schemas.microsoft.com/office/drawing/2014/main" id="{71815047-46D8-46A0-82D0-975B70A74553}"/>
              </a:ext>
            </a:extLst>
          </p:cNvPr>
          <p:cNvSpPr>
            <a:spLocks xmlns:a="http://schemas.openxmlformats.org/drawingml/2006/main" noGrp="1"/>
          </p:cNvSpPr>
          <p:nvPr/>
        </p:nvSpPr>
        <p:spPr>
          <a:xfrm xmlns:a="http://schemas.openxmlformats.org/drawingml/2006/main">
            <a:off x="723900" y="5391150"/>
            <a:ext cx="77628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xmlns:a="http://schemas.openxmlformats.org/drawingml/2006/main">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p14:creationId xmlns:p14="http://schemas.microsoft.com/office/powerpoint/2010/main" val="205794037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B488796-143E-4838-BB66-9457F5AADD9E}"/>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Come fight for what is next</a:t>
            </a:r>
          </a:p>
        </p:txBody>
      </p:sp>
      <p:sp>
        <p:nvSpPr>
          <p:cNvPr id="2" name="">
            <a:extLst xmlns:a="http://schemas.openxmlformats.org/drawingml/2006/main">
              <a:ext uri="{FF2B5EF4-FFF2-40B4-BE49-F238E27FC236}">
                <a16:creationId xmlns:a16="http://schemas.microsoft.com/office/drawing/2014/main" id="{D0FC48C9-D0B7-483B-8A87-01B4F6CC4A25}"/>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13</a:t>
            </a:r>
          </a:p>
        </p:txBody>
      </p:sp>
      <p:sp>
        <p:nvSpPr>
          <p:cNvPr id="3" name="">
            <a:extLst xmlns:a="http://schemas.openxmlformats.org/drawingml/2006/main">
              <a:ext uri="{FF2B5EF4-FFF2-40B4-BE49-F238E27FC236}">
                <a16:creationId xmlns:a16="http://schemas.microsoft.com/office/drawing/2014/main" id="{B89D8437-8108-4C47-9D08-B6DA72524FF5}"/>
              </a:ext>
            </a:extLst>
          </p:cNvPr>
          <p:cNvSpPr>
            <a:spLocks xmlns:a="http://schemas.openxmlformats.org/drawingml/2006/main" noGrp="1"/>
          </p:cNvSpPr>
          <p:nvPr/>
        </p:nvSpPr>
        <p:spPr>
          <a:xfrm xmlns:a="http://schemas.openxmlformats.org/drawingml/2006/main">
            <a:off x="723900" y="2609850"/>
            <a:ext cx="7781925" cy="561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xmlns:a="http://schemas.openxmlformats.org/drawingml/2006/main">
            <a:pPr algn="l">
              <a:buNone/>
              <a:defRPr sz="2100" b="0" i="0">
                <a:solidFill>
                  <a:srgbClr val="FFFFFF"/>
                </a:solidFill>
              </a:defRPr>
            </a:pPr>
            <a:r>
              <a:rPr sz="2100" b="0" i="0">
                <a:solidFill>
                  <a:srgbClr val="FFFFFF"/>
                </a:solidFill>
              </a:rPr>
              <a:t>We are looking for talent across Remington + TKG.</a:t>
            </a:r>
          </a:p>
        </p:txBody>
      </p:sp>
      <p:sp>
        <p:nvSpPr>
          <p:cNvPr id="4" name="">
            <a:extLst xmlns:a="http://schemas.openxmlformats.org/drawingml/2006/main">
              <a:ext uri="{FF2B5EF4-FFF2-40B4-BE49-F238E27FC236}">
                <a16:creationId xmlns:a16="http://schemas.microsoft.com/office/drawing/2014/main" id="{0823013B-9193-466C-B4D6-F2501B7EA23B}"/>
              </a:ext>
            </a:extLst>
          </p:cNvPr>
          <p:cNvSpPr>
            <a:spLocks xmlns:a="http://schemas.openxmlformats.org/drawingml/2006/main" noGrp="1"/>
          </p:cNvSpPr>
          <p:nvPr/>
        </p:nvSpPr>
        <p:spPr>
          <a:xfrm xmlns:a="http://schemas.openxmlformats.org/drawingml/2006/main">
            <a:off x="72390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Mechanical</a:t>
            </a:r>
          </a:p>
        </p:txBody>
      </p:sp>
      <p:sp>
        <p:nvSpPr>
          <p:cNvPr id="5" name="">
            <a:extLst xmlns:a="http://schemas.openxmlformats.org/drawingml/2006/main">
              <a:ext uri="{FF2B5EF4-FFF2-40B4-BE49-F238E27FC236}">
                <a16:creationId xmlns:a16="http://schemas.microsoft.com/office/drawing/2014/main" id="{D0C7D4C3-1873-4FA2-A12E-2328680CCFA0}"/>
              </a:ext>
            </a:extLst>
          </p:cNvPr>
          <p:cNvSpPr>
            <a:spLocks xmlns:a="http://schemas.openxmlformats.org/drawingml/2006/main" noGrp="1"/>
          </p:cNvSpPr>
          <p:nvPr/>
        </p:nvSpPr>
        <p:spPr>
          <a:xfrm xmlns:a="http://schemas.openxmlformats.org/drawingml/2006/main">
            <a:off x="72390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Equipment that lasts</a:t>
            </a:r>
          </a:p>
        </p:txBody>
      </p:sp>
      <p:sp>
        <p:nvSpPr>
          <p:cNvPr id="6" name="">
            <a:extLst xmlns:a="http://schemas.openxmlformats.org/drawingml/2006/main">
              <a:ext uri="{FF2B5EF4-FFF2-40B4-BE49-F238E27FC236}">
                <a16:creationId xmlns:a16="http://schemas.microsoft.com/office/drawing/2014/main" id="{3EBAAE2A-FCF5-4D51-86AE-6AA31A5CD58F}"/>
              </a:ext>
            </a:extLst>
          </p:cNvPr>
          <p:cNvSpPr>
            <a:spLocks xmlns:a="http://schemas.openxmlformats.org/drawingml/2006/main" noGrp="1"/>
          </p:cNvSpPr>
          <p:nvPr/>
        </p:nvSpPr>
        <p:spPr>
          <a:xfrm xmlns:a="http://schemas.openxmlformats.org/drawingml/2006/main">
            <a:off x="4857750" y="3543300"/>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Controls</a:t>
            </a:r>
          </a:p>
        </p:txBody>
      </p:sp>
      <p:sp>
        <p:nvSpPr>
          <p:cNvPr id="7" name="">
            <a:extLst xmlns:a="http://schemas.openxmlformats.org/drawingml/2006/main">
              <a:ext uri="{FF2B5EF4-FFF2-40B4-BE49-F238E27FC236}">
                <a16:creationId xmlns:a16="http://schemas.microsoft.com/office/drawing/2014/main" id="{BFBA7D01-0D9F-4F08-92C7-274929419204}"/>
              </a:ext>
            </a:extLst>
          </p:cNvPr>
          <p:cNvSpPr>
            <a:spLocks xmlns:a="http://schemas.openxmlformats.org/drawingml/2006/main" noGrp="1"/>
          </p:cNvSpPr>
          <p:nvPr/>
        </p:nvSpPr>
        <p:spPr>
          <a:xfrm xmlns:a="http://schemas.openxmlformats.org/drawingml/2006/main">
            <a:off x="4857750" y="3981450"/>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Reliable response</a:t>
            </a:r>
          </a:p>
        </p:txBody>
      </p:sp>
      <p:sp>
        <p:nvSpPr>
          <p:cNvPr id="8" name="">
            <a:extLst xmlns:a="http://schemas.openxmlformats.org/drawingml/2006/main">
              <a:ext uri="{FF2B5EF4-FFF2-40B4-BE49-F238E27FC236}">
                <a16:creationId xmlns:a16="http://schemas.microsoft.com/office/drawing/2014/main" id="{13F962AE-A9AA-4D93-9C57-58AC8180D812}"/>
              </a:ext>
            </a:extLst>
          </p:cNvPr>
          <p:cNvSpPr>
            <a:spLocks xmlns:a="http://schemas.openxmlformats.org/drawingml/2006/main" noGrp="1"/>
          </p:cNvSpPr>
          <p:nvPr/>
        </p:nvSpPr>
        <p:spPr>
          <a:xfrm xmlns:a="http://schemas.openxmlformats.org/drawingml/2006/main">
            <a:off x="72390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Software</a:t>
            </a:r>
          </a:p>
        </p:txBody>
      </p:sp>
      <p:sp>
        <p:nvSpPr>
          <p:cNvPr id="9" name="">
            <a:extLst xmlns:a="http://schemas.openxmlformats.org/drawingml/2006/main">
              <a:ext uri="{FF2B5EF4-FFF2-40B4-BE49-F238E27FC236}">
                <a16:creationId xmlns:a16="http://schemas.microsoft.com/office/drawing/2014/main" id="{D92FFE5F-371B-4111-96BB-F3AD24F5FC63}"/>
              </a:ext>
            </a:extLst>
          </p:cNvPr>
          <p:cNvSpPr>
            <a:spLocks xmlns:a="http://schemas.openxmlformats.org/drawingml/2006/main" noGrp="1"/>
          </p:cNvSpPr>
          <p:nvPr/>
        </p:nvSpPr>
        <p:spPr>
          <a:xfrm xmlns:a="http://schemas.openxmlformats.org/drawingml/2006/main">
            <a:off x="72390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Tools for the floor</a:t>
            </a:r>
          </a:p>
        </p:txBody>
      </p:sp>
      <p:sp>
        <p:nvSpPr>
          <p:cNvPr id="10" name="">
            <a:extLst xmlns:a="http://schemas.openxmlformats.org/drawingml/2006/main">
              <a:ext uri="{FF2B5EF4-FFF2-40B4-BE49-F238E27FC236}">
                <a16:creationId xmlns:a16="http://schemas.microsoft.com/office/drawing/2014/main" id="{A2434492-DCB7-4E66-848A-AF3250C4A971}"/>
              </a:ext>
            </a:extLst>
          </p:cNvPr>
          <p:cNvSpPr>
            <a:spLocks xmlns:a="http://schemas.openxmlformats.org/drawingml/2006/main" noGrp="1"/>
          </p:cNvSpPr>
          <p:nvPr/>
        </p:nvSpPr>
        <p:spPr>
          <a:xfrm xmlns:a="http://schemas.openxmlformats.org/drawingml/2006/main">
            <a:off x="4857750" y="4638675"/>
            <a:ext cx="35052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xmlns:a="http://schemas.openxmlformats.org/drawingml/2006/main">
            <a:pPr algn="l">
              <a:buNone/>
              <a:defRPr sz="2175" b="1" i="0">
                <a:solidFill>
                  <a:srgbClr val="BEA06A"/>
                </a:solidFill>
              </a:defRPr>
            </a:pPr>
            <a:r>
              <a:rPr sz="2175" b="1" i="0">
                <a:solidFill>
                  <a:srgbClr val="BEA06A"/>
                </a:solidFill>
              </a:rPr>
              <a:t>Testing</a:t>
            </a:r>
          </a:p>
        </p:txBody>
      </p:sp>
      <p:sp>
        <p:nvSpPr>
          <p:cNvPr id="11" name="">
            <a:extLst xmlns:a="http://schemas.openxmlformats.org/drawingml/2006/main">
              <a:ext uri="{FF2B5EF4-FFF2-40B4-BE49-F238E27FC236}">
                <a16:creationId xmlns:a16="http://schemas.microsoft.com/office/drawing/2014/main" id="{B81A4699-8816-4D03-8B22-0008C50E864E}"/>
              </a:ext>
            </a:extLst>
          </p:cNvPr>
          <p:cNvSpPr>
            <a:spLocks xmlns:a="http://schemas.openxmlformats.org/drawingml/2006/main" noGrp="1"/>
          </p:cNvSpPr>
          <p:nvPr/>
        </p:nvSpPr>
        <p:spPr>
          <a:xfrm xmlns:a="http://schemas.openxmlformats.org/drawingml/2006/main">
            <a:off x="4857750" y="5076825"/>
            <a:ext cx="3524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xmlns:a="http://schemas.openxmlformats.org/drawingml/2006/main">
            <a:pPr algn="l">
              <a:buNone/>
              <a:defRPr sz="1650" b="0" i="0">
                <a:solidFill>
                  <a:srgbClr val="FFFFFF"/>
                </a:solidFill>
              </a:defRPr>
            </a:pPr>
            <a:r>
              <a:rPr sz="1650" b="0" i="0">
                <a:solidFill>
                  <a:srgbClr val="FFFFFF"/>
                </a:solidFill>
              </a:rPr>
              <a:t>Proof in real conditions</a:t>
            </a:r>
          </a:p>
        </p:txBody>
      </p:sp>
      <p:sp>
        <p:nvSpPr>
          <p:cNvPr id="12" name="">
            <a:extLst xmlns:a="http://schemas.openxmlformats.org/drawingml/2006/main">
              <a:ext uri="{FF2B5EF4-FFF2-40B4-BE49-F238E27FC236}">
                <a16:creationId xmlns:a16="http://schemas.microsoft.com/office/drawing/2014/main" id="{3B588707-684F-4381-B976-459C0396BABD}"/>
              </a:ext>
            </a:extLst>
          </p:cNvPr>
          <p:cNvSpPr>
            <a:spLocks xmlns:a="http://schemas.openxmlformats.org/drawingml/2006/main" noGrp="1"/>
          </p:cNvSpPr>
          <p:nvPr/>
        </p:nvSpPr>
        <p:spPr>
          <a:xfrm xmlns:a="http://schemas.openxmlformats.org/drawingml/2006/main">
            <a:off x="723900" y="5695950"/>
            <a:ext cx="78105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xmlns:a="http://schemas.openxmlformats.org/drawingml/2006/main">
            <a:pPr algn="l">
              <a:buNone/>
              <a:defRPr sz="2250" b="1" i="0">
                <a:solidFill>
                  <a:srgbClr val="FFFFFF"/>
                </a:solidFill>
              </a:defRPr>
            </a:pPr>
            <a:r>
              <a:rPr sz="2250" b="1" i="0">
                <a:solidFill>
                  <a:srgbClr val="FFFFFF"/>
                </a:solidFill>
              </a:rPr>
              <a:t>Tell us what you want to build next.</a:t>
            </a:r>
          </a:p>
        </p:txBody>
      </p:sp>
    </p:spTree>
    <p:extLst>
      <p:ext uri="{BB962C8B-B14F-4D97-AF65-F5344CB8AC3E}">
        <p14:creationId xmlns:p14="http://schemas.microsoft.com/office/powerpoint/2010/main" val="170402279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87C6A6B-6B23-40C0-AEE8-90C1BFAE7CED}"/>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Try it yourself</a:t>
            </a:r>
          </a:p>
        </p:txBody>
      </p:sp>
      <p:sp>
        <p:nvSpPr>
          <p:cNvPr id="2" name="">
            <a:extLst xmlns:a="http://schemas.openxmlformats.org/drawingml/2006/main">
              <a:ext uri="{FF2B5EF4-FFF2-40B4-BE49-F238E27FC236}">
                <a16:creationId xmlns:a16="http://schemas.microsoft.com/office/drawing/2014/main" id="{EDC48AD8-F7C5-412A-8DC6-42D0167FFA0F}"/>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14</a:t>
            </a:r>
          </a:p>
        </p:txBody>
      </p:sp>
      <p:sp>
        <p:nvSpPr>
          <p:cNvPr id="3" name="">
            <a:extLst xmlns:a="http://schemas.openxmlformats.org/drawingml/2006/main">
              <a:ext uri="{FF2B5EF4-FFF2-40B4-BE49-F238E27FC236}">
                <a16:creationId xmlns:a16="http://schemas.microsoft.com/office/drawing/2014/main" id="{E76D5AFE-7436-4C33-9D1D-D8D4182FDCF0}"/>
              </a:ext>
            </a:extLst>
          </p:cNvPr>
          <p:cNvSpPr>
            <a:spLocks xmlns:a="http://schemas.openxmlformats.org/drawingml/2006/main" noGrp="1"/>
          </p:cNvSpPr>
          <p:nvPr/>
        </p:nvSpPr>
        <p:spPr>
          <a:xfrm xmlns:a="http://schemas.openxmlformats.org/drawingml/2006/main">
            <a:off x="723900" y="28765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xmlns:a="http://schemas.openxmlformats.org/drawingml/2006/main">
            <a:pPr algn="l">
              <a:buNone/>
              <a:defRPr sz="3225" b="1" i="0">
                <a:solidFill>
                  <a:srgbClr val="FFFFFF"/>
                </a:solidFill>
              </a:defRPr>
            </a:pPr>
            <a:r>
              <a:rPr sz="3225" b="1" i="0">
                <a:solidFill>
                  <a:srgbClr val="FFFFFF"/>
                </a:solidFill>
              </a:rPr>
              <a:t>Draw. Test. Change.</a:t>
            </a:r>
          </a:p>
        </p:txBody>
      </p:sp>
      <p:sp>
        <p:nvSpPr>
          <p:cNvPr id="4" name="">
            <a:extLst xmlns:a="http://schemas.openxmlformats.org/drawingml/2006/main">
              <a:ext uri="{FF2B5EF4-FFF2-40B4-BE49-F238E27FC236}">
                <a16:creationId xmlns:a16="http://schemas.microsoft.com/office/drawing/2014/main" id="{BA074521-D12E-4C92-96A7-2ED041BE9680}"/>
              </a:ext>
            </a:extLst>
          </p:cNvPr>
          <p:cNvSpPr>
            <a:spLocks xmlns:a="http://schemas.openxmlformats.org/drawingml/2006/main" noGrp="1"/>
          </p:cNvSpPr>
          <p:nvPr/>
        </p:nvSpPr>
        <p:spPr>
          <a:xfrm xmlns:a="http://schemas.openxmlformats.org/drawingml/2006/main">
            <a:off x="723900" y="529590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xmlns:a="http://schemas.openxmlformats.org/drawingml/2006/main">
            <a:pPr algn="l">
              <a:buNone/>
              <a:defRPr sz="1875" b="0" i="0">
                <a:solidFill>
                  <a:srgbClr val="BEA06A"/>
                </a:solidFill>
              </a:defRPr>
            </a:pPr>
            <a:r>
              <a:rPr sz="1875" b="0" i="0">
                <a:solidFill>
                  <a:srgbClr val="BEA06A"/>
                </a:solidFill>
              </a:rPr>
              <a:t>4founders.dev/demo/ai-in-action/</a:t>
            </a:r>
          </a:p>
        </p:txBody>
      </p:sp>
      <p:pic>
        <p:nvPicPr>
          <p:cNvPr id="5" name="">
            <a:extLst xmlns:a="http://schemas.openxmlformats.org/drawingml/2006/main">
              <a:ext uri="{FF2B5EF4-FFF2-40B4-BE49-F238E27FC236}">
                <a16:creationId xmlns:a16="http://schemas.microsoft.com/office/drawing/2014/main" id="{A5D8DE07-B7EB-4602-9996-F851FEEE0061}"/>
              </a:ext>
            </a:extLst>
          </p:cNvPr>
          <p:cNvPicPr>
            <a:picLocks xmlns:a="http://schemas.openxmlformats.org/drawingml/2006/main" noChangeAspect="1"/>
          </p:cNvPicPr>
          <p:nvPr/>
        </p:nvPicPr>
        <p:blipFill>
          <a:blip xmlns:r="http://schemas.openxmlformats.org/officeDocument/2006/relationships" xmlns:a="http://schemas.openxmlformats.org/drawingml/2006/main" r:embed="Re39a86eda55140e9"/>
          <a:stretch xmlns:a="http://schemas.openxmlformats.org/drawingml/2006/main"/>
        </p:blipFill>
        <p:spPr>
          <a:xfrm xmlns:a="http://schemas.openxmlformats.org/drawingml/2006/main">
            <a:off x="5753100" y="2590800"/>
            <a:ext cx="2466975" cy="24669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A967C52-65BE-4CF8-A216-CA089985A1E8}"/>
              </a:ext>
            </a:extLst>
          </p:cNvPr>
          <p:cNvSpPr>
            <a:spLocks xmlns:a="http://schemas.openxmlformats.org/drawingml/2006/main" noGrp="1"/>
          </p:cNvSpPr>
          <p:nvPr/>
        </p:nvSpPr>
        <p:spPr>
          <a:xfrm xmlns:a="http://schemas.openxmlformats.org/drawingml/2006/main">
            <a:off x="5762625" y="5314950"/>
            <a:ext cx="2762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025"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xmlns:a="http://schemas.openxmlformats.org/drawingml/2006/main">
            <a:pPr algn="l">
              <a:buNone/>
              <a:defRPr sz="2025" b="1" i="0">
                <a:solidFill>
                  <a:srgbClr val="FFFFFF"/>
                </a:solidFill>
              </a:defRPr>
            </a:pPr>
            <a:r>
              <a:rPr sz="2025" b="1" i="0">
                <a:solidFill>
                  <a:srgbClr val="FFFFFF"/>
                </a:solidFill>
              </a:rPr>
              <a:t>EVENT PIN  877262</a:t>
            </a:r>
          </a:p>
        </p:txBody>
      </p:sp>
    </p:spTree>
    <p:extLst>
      <p:ext uri="{BB962C8B-B14F-4D97-AF65-F5344CB8AC3E}">
        <p14:creationId xmlns:p14="http://schemas.microsoft.com/office/powerpoint/2010/main" val="23656252"/>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C7DA5FD-739D-4644-9148-F19D032919FA}"/>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Bring us your idea</a:t>
            </a:r>
          </a:p>
        </p:txBody>
      </p:sp>
      <p:sp>
        <p:nvSpPr>
          <p:cNvPr id="2" name="">
            <a:extLst xmlns:a="http://schemas.openxmlformats.org/drawingml/2006/main">
              <a:ext uri="{FF2B5EF4-FFF2-40B4-BE49-F238E27FC236}">
                <a16:creationId xmlns:a16="http://schemas.microsoft.com/office/drawing/2014/main" id="{BF7AB287-9579-4376-952A-319BD45DDE16}"/>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15</a:t>
            </a:r>
          </a:p>
        </p:txBody>
      </p:sp>
      <p:sp>
        <p:nvSpPr>
          <p:cNvPr id="3" name="">
            <a:extLst xmlns:a="http://schemas.openxmlformats.org/drawingml/2006/main">
              <a:ext uri="{FF2B5EF4-FFF2-40B4-BE49-F238E27FC236}">
                <a16:creationId xmlns:a16="http://schemas.microsoft.com/office/drawing/2014/main" id="{56E2B49B-822B-4239-9D3F-90141AA845C0}"/>
              </a:ext>
            </a:extLst>
          </p:cNvPr>
          <p:cNvSpPr>
            <a:spLocks xmlns:a="http://schemas.openxmlformats.org/drawingml/2006/main" noGrp="1"/>
          </p:cNvSpPr>
          <p:nvPr/>
        </p:nvSpPr>
        <p:spPr>
          <a:xfrm xmlns:a="http://schemas.openxmlformats.org/drawingml/2006/main">
            <a:off x="723900" y="2895600"/>
            <a:ext cx="7924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450" b="1" i="0">
                <a:solidFill>
                  <a:srgbClr val="FFFFFF"/>
                </a:solidFill>
              </a:defRPr>
            </a:defPPr>
            <a:lvl1pPr algn="l">
              <a:buNone/>
              <a:defRPr sz="3450" b="1" i="0">
                <a:solidFill>
                  <a:srgbClr val="FFFFFF"/>
                </a:solidFill>
              </a:defRPr>
            </a:lvl1pPr>
            <a:lvl2pPr algn="l">
              <a:buNone/>
              <a:defRPr sz="3450" b="1" i="0">
                <a:solidFill>
                  <a:srgbClr val="FFFFFF"/>
                </a:solidFill>
              </a:defRPr>
            </a:lvl2pPr>
            <a:lvl3pPr algn="l">
              <a:buNone/>
              <a:defRPr sz="3450" b="1" i="0">
                <a:solidFill>
                  <a:srgbClr val="FFFFFF"/>
                </a:solidFill>
              </a:defRPr>
            </a:lvl3pPr>
            <a:lvl4pPr algn="l">
              <a:buNone/>
              <a:defRPr sz="3450" b="1" i="0">
                <a:solidFill>
                  <a:srgbClr val="FFFFFF"/>
                </a:solidFill>
              </a:defRPr>
            </a:lvl4pPr>
            <a:lvl5pPr algn="l">
              <a:buNone/>
              <a:defRPr sz="3450" b="1" i="0">
                <a:solidFill>
                  <a:srgbClr val="FFFFFF"/>
                </a:solidFill>
              </a:defRPr>
            </a:lvl5pPr>
            <a:lvl6pPr algn="l">
              <a:buNone/>
              <a:defRPr sz="3450" b="1" i="0">
                <a:solidFill>
                  <a:srgbClr val="FFFFFF"/>
                </a:solidFill>
              </a:defRPr>
            </a:lvl6pPr>
            <a:lvl7pPr algn="l">
              <a:buNone/>
              <a:defRPr sz="3450" b="1" i="0">
                <a:solidFill>
                  <a:srgbClr val="FFFFFF"/>
                </a:solidFill>
              </a:defRPr>
            </a:lvl7pPr>
            <a:lvl8pPr algn="l">
              <a:buNone/>
              <a:defRPr sz="3450" b="1" i="0">
                <a:solidFill>
                  <a:srgbClr val="FFFFFF"/>
                </a:solidFill>
              </a:defRPr>
            </a:lvl8pPr>
            <a:lvl9pPr algn="l">
              <a:buNone/>
              <a:defRPr sz="3450" b="1" i="0">
                <a:solidFill>
                  <a:srgbClr val="FFFFFF"/>
                </a:solidFill>
              </a:defRPr>
            </a:lvl9pPr>
          </a:lstStyle>
          <a:p xmlns:a="http://schemas.openxmlformats.org/drawingml/2006/main">
            <a:pPr algn="l">
              <a:buNone/>
              <a:defRPr sz="3450" b="1" i="0">
                <a:solidFill>
                  <a:srgbClr val="FFFFFF"/>
                </a:solidFill>
              </a:defRPr>
            </a:pPr>
            <a:r>
              <a:rPr sz="3450" b="1" i="0">
                <a:solidFill>
                  <a:srgbClr val="FFFFFF"/>
                </a:solidFill>
              </a:rPr>
              <a:t>What do you want to pursue?</a:t>
            </a:r>
          </a:p>
        </p:txBody>
      </p:sp>
      <p:sp>
        <p:nvSpPr>
          <p:cNvPr id="4" name="">
            <a:extLst xmlns:a="http://schemas.openxmlformats.org/drawingml/2006/main">
              <a:ext uri="{FF2B5EF4-FFF2-40B4-BE49-F238E27FC236}">
                <a16:creationId xmlns:a16="http://schemas.microsoft.com/office/drawing/2014/main" id="{4CFBB8BB-8520-4CA8-A41E-07E3DB8946B4}"/>
              </a:ext>
            </a:extLst>
          </p:cNvPr>
          <p:cNvSpPr>
            <a:spLocks xmlns:a="http://schemas.openxmlformats.org/drawingml/2006/main" noGrp="1"/>
          </p:cNvSpPr>
          <p:nvPr/>
        </p:nvSpPr>
        <p:spPr>
          <a:xfrm xmlns:a="http://schemas.openxmlformats.org/drawingml/2006/main">
            <a:off x="723900" y="4114800"/>
            <a:ext cx="7848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0" i="0">
                <a:solidFill>
                  <a:srgbClr val="D5D8DA"/>
                </a:solidFill>
              </a:defRPr>
            </a:defPPr>
            <a:lvl1pPr algn="l">
              <a:buNone/>
              <a:defRPr sz="2100" b="0" i="0">
                <a:solidFill>
                  <a:srgbClr val="D5D8DA"/>
                </a:solidFill>
              </a:defRPr>
            </a:lvl1pPr>
            <a:lvl2pPr algn="l">
              <a:buNone/>
              <a:defRPr sz="2100" b="0" i="0">
                <a:solidFill>
                  <a:srgbClr val="D5D8DA"/>
                </a:solidFill>
              </a:defRPr>
            </a:lvl2pPr>
            <a:lvl3pPr algn="l">
              <a:buNone/>
              <a:defRPr sz="2100" b="0" i="0">
                <a:solidFill>
                  <a:srgbClr val="D5D8DA"/>
                </a:solidFill>
              </a:defRPr>
            </a:lvl3pPr>
            <a:lvl4pPr algn="l">
              <a:buNone/>
              <a:defRPr sz="2100" b="0" i="0">
                <a:solidFill>
                  <a:srgbClr val="D5D8DA"/>
                </a:solidFill>
              </a:defRPr>
            </a:lvl4pPr>
            <a:lvl5pPr algn="l">
              <a:buNone/>
              <a:defRPr sz="2100" b="0" i="0">
                <a:solidFill>
                  <a:srgbClr val="D5D8DA"/>
                </a:solidFill>
              </a:defRPr>
            </a:lvl5pPr>
            <a:lvl6pPr algn="l">
              <a:buNone/>
              <a:defRPr sz="2100" b="0" i="0">
                <a:solidFill>
                  <a:srgbClr val="D5D8DA"/>
                </a:solidFill>
              </a:defRPr>
            </a:lvl6pPr>
            <a:lvl7pPr algn="l">
              <a:buNone/>
              <a:defRPr sz="2100" b="0" i="0">
                <a:solidFill>
                  <a:srgbClr val="D5D8DA"/>
                </a:solidFill>
              </a:defRPr>
            </a:lvl7pPr>
            <a:lvl8pPr algn="l">
              <a:buNone/>
              <a:defRPr sz="2100" b="0" i="0">
                <a:solidFill>
                  <a:srgbClr val="D5D8DA"/>
                </a:solidFill>
              </a:defRPr>
            </a:lvl8pPr>
            <a:lvl9pPr algn="l">
              <a:buNone/>
              <a:defRPr sz="2100" b="0" i="0">
                <a:solidFill>
                  <a:srgbClr val="D5D8DA"/>
                </a:solidFill>
              </a:defRPr>
            </a:lvl9pPr>
          </a:lstStyle>
          <a:p xmlns:a="http://schemas.openxmlformats.org/drawingml/2006/main">
            <a:pPr algn="l">
              <a:buNone/>
              <a:defRPr sz="2100" b="0" i="0">
                <a:solidFill>
                  <a:srgbClr val="D5D8DA"/>
                </a:solidFill>
              </a:defRPr>
            </a:pPr>
            <a:r>
              <a:rPr sz="2100" b="0" i="0">
                <a:solidFill>
                  <a:srgbClr val="D5D8DA"/>
                </a:solidFill>
              </a:rPr>
              <a:t>If there is a fit, let us explore it together.</a:t>
            </a:r>
          </a:p>
        </p:txBody>
      </p:sp>
      <p:sp>
        <p:nvSpPr>
          <p:cNvPr id="5" name="">
            <a:extLst xmlns:a="http://schemas.openxmlformats.org/drawingml/2006/main">
              <a:ext uri="{FF2B5EF4-FFF2-40B4-BE49-F238E27FC236}">
                <a16:creationId xmlns:a16="http://schemas.microsoft.com/office/drawing/2014/main" id="{1596F5A7-D059-44DA-A1C5-74978F5E65C4}"/>
              </a:ext>
            </a:extLst>
          </p:cNvPr>
          <p:cNvSpPr>
            <a:spLocks xmlns:a="http://schemas.openxmlformats.org/drawingml/2006/main" noGrp="1"/>
          </p:cNvSpPr>
          <p:nvPr/>
        </p:nvSpPr>
        <p:spPr>
          <a:xfrm xmlns:a="http://schemas.openxmlformats.org/drawingml/2006/main">
            <a:off x="723900" y="5210175"/>
            <a:ext cx="790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xmlns:a="http://schemas.openxmlformats.org/drawingml/2006/main">
            <a:pPr algn="l">
              <a:buNone/>
              <a:defRPr sz="2325" b="1" i="0">
                <a:solidFill>
                  <a:srgbClr val="BEA06A"/>
                </a:solidFill>
              </a:defRPr>
            </a:pPr>
            <a:r>
              <a:rPr sz="2325" b="1" i="0">
                <a:solidFill>
                  <a:srgbClr val="BEA06A"/>
                </a:solidFill>
              </a:rPr>
              <a:t>We could even become your first customer.</a:t>
            </a:r>
          </a:p>
        </p:txBody>
      </p:sp>
    </p:spTree>
    <p:extLst>
      <p:ext uri="{BB962C8B-B14F-4D97-AF65-F5344CB8AC3E}">
        <p14:creationId xmlns:p14="http://schemas.microsoft.com/office/powerpoint/2010/main" val="5065774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F0EA59-117A-4064-B427-87EE54602873}"/>
              </a:ext>
            </a:extLst>
          </p:cNvPr>
          <p:cNvSpPr>
            <a:spLocks xmlns:a="http://schemas.openxmlformats.org/drawingml/2006/main" noGrp="1"/>
          </p:cNvSpPr>
          <p:nvPr/>
        </p:nvSpPr>
        <p:spPr>
          <a:xfrm xmlns:a="http://schemas.openxmlformats.org/drawingml/2006/main">
            <a:off x="704850" y="1495425"/>
            <a:ext cx="77438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xmlns:a="http://schemas.openxmlformats.org/drawingml/2006/main">
            <a:pPr algn="l">
              <a:buNone/>
              <a:defRPr sz="3000" b="0" i="0">
                <a:solidFill>
                  <a:srgbClr val="FFFFFF"/>
                </a:solidFill>
              </a:defRPr>
            </a:pPr>
            <a:r>
              <a:rPr sz="3000" b="0" i="0">
                <a:solidFill>
                  <a:srgbClr val="FFFFFF"/>
                </a:solidFill>
              </a:rPr>
              <a:t>Let us connect</a:t>
            </a:r>
          </a:p>
        </p:txBody>
      </p:sp>
      <p:sp>
        <p:nvSpPr>
          <p:cNvPr id="2" name="">
            <a:extLst xmlns:a="http://schemas.openxmlformats.org/drawingml/2006/main">
              <a:ext uri="{FF2B5EF4-FFF2-40B4-BE49-F238E27FC236}">
                <a16:creationId xmlns:a16="http://schemas.microsoft.com/office/drawing/2014/main" id="{724A516E-5F40-4047-8050-494D3EE1695A}"/>
              </a:ext>
            </a:extLst>
          </p:cNvPr>
          <p:cNvSpPr>
            <a:spLocks xmlns:a="http://schemas.openxmlformats.org/drawingml/2006/main" noGrp="1"/>
          </p:cNvSpPr>
          <p:nvPr/>
        </p:nvSpPr>
        <p:spPr>
          <a:xfrm xmlns:a="http://schemas.openxmlformats.org/drawingml/2006/main">
            <a:off x="161925" y="6372225"/>
            <a:ext cx="552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xmlns:a="http://schemas.openxmlformats.org/drawingml/2006/main">
            <a:pPr algn="l">
              <a:buNone/>
              <a:defRPr sz="1125" b="1" i="0">
                <a:solidFill>
                  <a:srgbClr val="000000"/>
                </a:solidFill>
              </a:defRPr>
            </a:pPr>
            <a:r>
              <a:rPr sz="1125" b="1" i="0">
                <a:solidFill>
                  <a:srgbClr val="000000"/>
                </a:solidFill>
              </a:rPr>
              <a:t>16</a:t>
            </a:r>
          </a:p>
        </p:txBody>
      </p:sp>
      <p:sp>
        <p:nvSpPr>
          <p:cNvPr id="3" name="">
            <a:extLst xmlns:a="http://schemas.openxmlformats.org/drawingml/2006/main">
              <a:ext uri="{FF2B5EF4-FFF2-40B4-BE49-F238E27FC236}">
                <a16:creationId xmlns:a16="http://schemas.microsoft.com/office/drawing/2014/main" id="{2D7D6113-0669-421B-A999-C7953240D470}"/>
              </a:ext>
            </a:extLst>
          </p:cNvPr>
          <p:cNvSpPr>
            <a:spLocks xmlns:a="http://schemas.openxmlformats.org/drawingml/2006/main" noGrp="1"/>
          </p:cNvSpPr>
          <p:nvPr/>
        </p:nvSpPr>
        <p:spPr>
          <a:xfrm xmlns:a="http://schemas.openxmlformats.org/drawingml/2006/main">
            <a:off x="723900" y="2524125"/>
            <a:ext cx="7791450" cy="1114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xmlns:a="http://schemas.openxmlformats.org/drawingml/2006/main">
            <a:pPr algn="l">
              <a:buNone/>
              <a:defRPr sz="2775" b="1" i="1">
                <a:solidFill>
                  <a:srgbClr val="FFFFFF"/>
                </a:solidFill>
              </a:defRPr>
            </a:pPr>
            <a:r>
              <a:rPr sz="2775" b="1" i="1">
                <a:solidFill>
                  <a:srgbClr val="FFFFFF"/>
                </a:solidFill>
              </a:rPr>
              <a:t>Our history was made on the factory floor.</a:t>
            </a:r>
          </a:p>
          <a:p xmlns:a="http://schemas.openxmlformats.org/drawingml/2006/main">
            <a:pPr algn="l">
              <a:buNone/>
              <a:defRPr sz="2775" b="1" i="1">
                <a:solidFill>
                  <a:srgbClr val="FFFFFF"/>
                </a:solidFill>
              </a:defRPr>
            </a:pPr>
            <a:r>
              <a:rPr sz="2775" b="1" i="1">
                <a:solidFill>
                  <a:srgbClr val="FFFFFF"/>
                </a:solidFill>
              </a:rPr>
              <a:t>The future will be, too.</a:t>
            </a:r>
          </a:p>
        </p:txBody>
      </p:sp>
      <p:sp>
        <p:nvSpPr>
          <p:cNvPr id="4" name="">
            <a:extLst xmlns:a="http://schemas.openxmlformats.org/drawingml/2006/main">
              <a:ext uri="{FF2B5EF4-FFF2-40B4-BE49-F238E27FC236}">
                <a16:creationId xmlns:a16="http://schemas.microsoft.com/office/drawing/2014/main" id="{584ED998-33A3-4E85-8F9C-EEE9F5227F16}"/>
              </a:ext>
            </a:extLst>
          </p:cNvPr>
          <p:cNvSpPr>
            <a:spLocks xmlns:a="http://schemas.openxmlformats.org/drawingml/2006/main" noGrp="1"/>
          </p:cNvSpPr>
          <p:nvPr/>
        </p:nvSpPr>
        <p:spPr>
          <a:xfrm xmlns:a="http://schemas.openxmlformats.org/drawingml/2006/main">
            <a:off x="723900" y="3733800"/>
            <a:ext cx="77914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xmlns:a="http://schemas.openxmlformats.org/drawingml/2006/main">
            <a:pPr algn="l">
              <a:buNone/>
              <a:defRPr sz="2100" b="1" i="0">
                <a:solidFill>
                  <a:srgbClr val="BEA06A"/>
                </a:solidFill>
              </a:defRPr>
            </a:pPr>
            <a:r>
              <a:rPr sz="2100" b="1" i="0">
                <a:solidFill>
                  <a:srgbClr val="BEA06A"/>
                </a:solidFill>
              </a:rPr>
              <a:t>Come build and fight with us. Turn AI into action.</a:t>
            </a:r>
          </a:p>
        </p:txBody>
      </p:sp>
      <p:sp>
        <p:nvSpPr>
          <p:cNvPr id="6" name="">
            <a:extLst xmlns:a="http://schemas.openxmlformats.org/drawingml/2006/main">
              <a:ext uri="{FF2B5EF4-FFF2-40B4-BE49-F238E27FC236}">
                <a16:creationId xmlns:a16="http://schemas.microsoft.com/office/drawing/2014/main" id="{CF15CE39-03ED-485E-A3C8-874F0117C19A}"/>
              </a:ext>
            </a:extLst>
          </p:cNvPr>
          <p:cNvSpPr>
            <a:spLocks xmlns:a="http://schemas.openxmlformats.org/drawingml/2006/main" noGrp="1"/>
          </p:cNvSpPr>
          <p:nvPr/>
        </p:nvSpPr>
        <p:spPr>
          <a:xfrm xmlns:a="http://schemas.openxmlformats.org/drawingml/2006/main">
            <a:off x="914400" y="5057775"/>
            <a:ext cx="7315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xmlns:a="http://schemas.openxmlformats.org/drawingml/2006/main">
            <a:pPr algn="ctr">
              <a:buNone/>
              <a:defRPr sz="2600" b="1" i="0">
                <a:solidFill>
                  <a:srgbClr val="FFFFFF"/>
                </a:solidFill>
              </a:defRPr>
            </a:pPr>
            <a:r>
              <a:rPr sz="2600" b="1" i="0">
                <a:solidFill>
                  <a:srgbClr val="FFFFFF"/>
                </a:solidFill>
              </a:rPr>
              <a:t>bdaugherty@tkghunt.com</a:t>
            </a:r>
          </a:p>
        </p:txBody>
      </p:sp>
    </p:spTree>
    <p:extLst>
      <p:ext uri="{BB962C8B-B14F-4D97-AF65-F5344CB8AC3E}">
        <p14:creationId xmlns:p14="http://schemas.microsoft.com/office/powerpoint/2010/main" val="526665785"/>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2026-10-22T20:27:44.5840000Z</dcterms:created>
  <dcterms:modified xsi:type="dcterms:W3CDTF">2026-10-22T20:27:44.5840000Z</dcterms:modified>
</coreProperties>
</file>