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39d90483318c42db"/>
  </p:sldMasterIdLst>
  <p:notesMasterIdLst>
    <p:notesMasterId xmlns:r="http://schemas.openxmlformats.org/officeDocument/2006/relationships" r:id="R31cb777d4765470f"/>
  </p:notesMasterIdLst>
  <p:sldIdLst>
    <p:sldId xmlns:r="http://schemas.openxmlformats.org/officeDocument/2006/relationships" id="256" r:id="R9a70a15f79814586"/>
    <p:sldId xmlns:r="http://schemas.openxmlformats.org/officeDocument/2006/relationships" id="257" r:id="R0fe56bb8b7f540ab"/>
    <p:sldId xmlns:r="http://schemas.openxmlformats.org/officeDocument/2006/relationships" id="258" r:id="Ra9a2213aca20468f"/>
    <p:sldId xmlns:r="http://schemas.openxmlformats.org/officeDocument/2006/relationships" id="259" r:id="Rc4254491657446f0"/>
    <p:sldId xmlns:r="http://schemas.openxmlformats.org/officeDocument/2006/relationships" id="260" r:id="Rafb06faae5af4ffc"/>
    <p:sldId xmlns:r="http://schemas.openxmlformats.org/officeDocument/2006/relationships" id="261" r:id="Rf2d5bbce80ed4581"/>
    <p:sldId xmlns:r="http://schemas.openxmlformats.org/officeDocument/2006/relationships" id="262" r:id="R4451d23375fe4168"/>
    <p:sldId xmlns:r="http://schemas.openxmlformats.org/officeDocument/2006/relationships" id="263" r:id="R114ef8414c0a4880"/>
    <p:sldId xmlns:r="http://schemas.openxmlformats.org/officeDocument/2006/relationships" id="264" r:id="R554cb95b30f54975"/>
    <p:sldId xmlns:r="http://schemas.openxmlformats.org/officeDocument/2006/relationships" id="265" r:id="Rb9588b635a32486f"/>
    <p:sldId xmlns:r="http://schemas.openxmlformats.org/officeDocument/2006/relationships" id="266" r:id="R34d7462ebe554960"/>
    <p:sldId xmlns:r="http://schemas.openxmlformats.org/officeDocument/2006/relationships" id="267" r:id="Ra95796cf23fc4de1"/>
    <p:sldId xmlns:r="http://schemas.openxmlformats.org/officeDocument/2006/relationships" id="268" r:id="R49f019004b7f4dca"/>
    <p:sldId xmlns:r="http://schemas.openxmlformats.org/officeDocument/2006/relationships" id="269" r:id="Rebb456c9b43142af"/>
    <p:sldId xmlns:r="http://schemas.openxmlformats.org/officeDocument/2006/relationships" id="270" r:id="R0258f44c2015421b"/>
    <p:sldId xmlns:r="http://schemas.openxmlformats.org/officeDocument/2006/relationships" id="271" r:id="Ra26a4f3e169947ab"/>
    <p:sldId xmlns:r="http://schemas.openxmlformats.org/officeDocument/2006/relationships" id="272" r:id="R28b51150d6be414c"/>
  </p:sldIdLst>
  <p:sldSz cx="9144000" cy="6858000"/>
  <p:notesSz cx="6858000" cy="9144000"/>
  <p:embeddedFontLst>
    <p:embeddedFont>
      <p:font typeface="Libre Franklin"/>
      <p:regular xmlns:r="http://schemas.openxmlformats.org/officeDocument/2006/relationships" r:id="R154d929df511407e"/>
      <p:bold xmlns:r="http://schemas.openxmlformats.org/officeDocument/2006/relationships" r:id="R06085ea0d63e4b9f"/>
      <p:italic xmlns:r="http://schemas.openxmlformats.org/officeDocument/2006/relationships" r:id="R6fcf90a927204795"/>
      <p:boldItalic xmlns:r="http://schemas.openxmlformats.org/officeDocument/2006/relationships" r:id="Rbe1fdcf83aab49a1"/>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6.xml" Id="Rf2d5bbce80ed4581"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deba34ac6c45f9" /><Relationship Type="http://schemas.openxmlformats.org/officeDocument/2006/relationships/notesMaster" Target="/ppt/notesMasters/notesMaster1.xml" Id="Re84d0010ef224c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introduces himself as the leader of small engineering teams across TKG, mainly at Remington. Wesley introduces himself in his own words: one of the first software interns, early Remington Vision work, now an engineer. Brad frames the talk as engineering that reaches the floor.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Remington began in 1816; Lonoke operations began in 1969. Remington is one of TKG five ammunition brands, alongside Federal, CCI, Speer, and HEVI-Shot. The company has a deep manufacturing legacy. Our ambition is for Remington and TKG to keep writing the rules for decades to come. Sources: https://www.remington.com/about-us.html and https://www.thekineticgroup.com/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Remington makes ammunition in Lonoke. This work takes place around propellants, primers, energetic materials, and moving machinery. That context calls for disciplined engineering and close partnership with operators, quality, and safety teams. Our software supports the work; established machine safeguards and qualified people remain essential. The point is that useful information must hold up in the real production environment. Source: Remington About Us and Remington 2024 employee history (public); Brad's description of the plant.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The simple thread is sense, decide, act. A machine signal or image captures what is happening. Software turns it into a useful view or decision. People and equipment respond through the proper workflow. The difficult engineering is connecting these steps reliably in production. Now show five examples, beginning with systems already running on the floor.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Remington is the proving ground for much of our work. SCADA and the two vision inspection systems are live in production. Public Sentiment and Remi tackle different questions beyond the floor. We are small engineering teams working across TKG, with the same standard: each system must help someone make a better decision. Do not suggest sentiment or Remi is inline production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Start with an operator or engineer asking: what is happening on the line right now, and what happened earlier? RemSCADA turns machine signals into a consistent, time-stamped history that people can use to see conditions and investigate changes. The hard work is trustworthy collection and interpretation, not a fancy dashboard. This is live and being refined. Call it supervisory information, not a safety controller or guaranteed real-time machine control. Source: Remington Systems Lab showcase narration, RemSCADAv6 source guide; Brad confirmed production use on October 22,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Centerfire inspection is live in the production flow. A camera captures the view, the vision system evaluates it, and the result reaches the people and equipment that rely on it. The hardest deployment challenge is often human: people need to understand the result, see how it behaves in their work, and have a path to raise concerns. Trust is earned through real use, listening, and refinement. Wesley: add your own experience of working with floor teams, without sharing defect criteria, thresholds, line identifiers, or machine settings. Source: RemVision video narration and source guide; Brad confirmed live centerfire inspection and the trust theme October 22,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or Brad: Another product creates a different visual inspection problem. The engineering pattern stays familiar: capture a useful image, decide from evidence, and return a result in time for the production workflow. This system is live and being polished. Tell one concrete, public-safe story about adapting the system to shotshells, preferably a moment when an early assumption did not survive the floor. Avoid specific defect taxonomy, model thresholds, line rates, or control details. Source: RemVision video narration and source guide; Brad confirmed live shotshell inspection October 22,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Move beyond the factory. Remington and TKG also need to understand what people are saying about their products and brands. Our sentiment project turns collected public discussion into themes and directional signals, while keeping a path to the original sources. A useful story is how a cluster of comments can lead someone to read the actual posts rather than trust a single score. Do not call it a complete view of the market or an inline floor system. Source: Remington Systems Lab showcase narration and Public Sentiment source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or Brad: Remi is our local language-model work for engineering questions and tasks. The model is one piece; approved project knowledge, scoped tools, permissions, and verification make it useful. Tell a story about an engineer who has a question and needs a grounded answer or a draft they can inspect. Treat this as a developing capability, not a claim of organization-wide rollout or permission-complete access. Source: Remington Systems Lab showcase narration, Little Chef source guide, and Design DGX RAG Agent Architecture chat.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explain why we love the variety, freedom, ownership, and growth. Introduce your own intern-to-engineer path and choose one real moment. Brad hands off to the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and Wesley: demonstrate on-screen sorting with Gatorade bottles. Show camera view, decision, and visible result; invite an audience prediction. This is a demonstration setup, separate from production inspection.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and Brad: the floor changes, decisions have to arrive in time, and results have to earn trust. Return to the centerfire story and the human work of listening, showing evidence, and refining with users. Do not imply the demo itself is a production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people across mechanical, controls, software, and testing disciplines to work on these challenges across Remington and TKG. Ask what they want to build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the audience to scan the QR for the separate 4Founders activity, enter PIN 877262, and try it themselves. The QR resolves to https://4founders.dev/demo/ai-in-action/. Give the room a few minutes, then ask for one or two reactions.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interests beyond the roles named. Ask students what they want to pursue. If there is a fit, explore an idea together. The first step is a conversation.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follow-up at awhite@tkghunt.com. Wesley can invite engineering questions. Close: Our history was made on the factory floor. The future will be, too. Come build and fight with us. Turn AI into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e580a1c179f746e4" /><Relationship Type="http://schemas.openxmlformats.org/officeDocument/2006/relationships/notesSlide" Target="/ppt/notesSlides/notesSlide6.xml" Id="Rda4e5772837143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fd39fc787fa44984" /><Relationship Type="http://schemas.openxmlformats.org/officeDocument/2006/relationships/notesSlide" Target="/ppt/notesSlides/notesSlide16.xml" Id="R79165e16f80a40a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E87B26-18C7-45F5-93FF-53ED48BFE142}"/>
              </a:ext>
            </a:extLst>
          </p:cNvPr>
          <p:cNvSpPr>
            <a:spLocks xmlns:a="http://schemas.openxmlformats.org/drawingml/2006/main" noGrp="1"/>
          </p:cNvSpPr>
          <p:nvPr/>
        </p:nvSpPr>
        <p:spPr>
          <a:xfrm xmlns:a="http://schemas.openxmlformats.org/drawingml/2006/main">
            <a:off x="904875" y="2247900"/>
            <a:ext cx="7334250" cy="1362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xmlns:a="http://schemas.openxmlformats.org/drawingml/2006/main">
            <a:pPr algn="ctr">
              <a:buNone/>
              <a:defRPr sz="4125" b="0" i="0">
                <a:solidFill>
                  <a:srgbClr val="FFFFFF"/>
                </a:solidFill>
              </a:defRPr>
            </a:pPr>
            <a:r>
              <a:rPr sz="4125" b="0" i="0">
                <a:solidFill>
                  <a:srgbClr val="FFFFFF"/>
                </a:solidFill>
              </a:rPr>
              <a:t>Engineering at</a:t>
            </a:r>
          </a:p>
          <a:p xmlns:a="http://schemas.openxmlformats.org/drawingml/2006/main">
            <a:pPr algn="ctr">
              <a:buNone/>
              <a:defRPr sz="4125" b="0" i="0">
                <a:solidFill>
                  <a:srgbClr val="FFFFFF"/>
                </a:solidFill>
              </a:defRPr>
            </a:pPr>
            <a:r>
              <a:rPr sz="4125" b="0" i="0">
                <a:solidFill>
                  <a:srgbClr val="FFFFFF"/>
                </a:solidFill>
              </a:rPr>
              <a:t>The Kinetic Group</a:t>
            </a:r>
          </a:p>
        </p:txBody>
      </p:sp>
      <p:sp>
        <p:nvSpPr>
          <p:cNvPr id="2" name="">
            <a:extLst xmlns:a="http://schemas.openxmlformats.org/drawingml/2006/main">
              <a:ext uri="{FF2B5EF4-FFF2-40B4-BE49-F238E27FC236}">
                <a16:creationId xmlns:a16="http://schemas.microsoft.com/office/drawing/2014/main" id="{4ABA60F8-29B6-4B9A-85ED-6AC64EC1527C}"/>
              </a:ext>
            </a:extLst>
          </p:cNvPr>
          <p:cNvSpPr>
            <a:spLocks xmlns:a="http://schemas.openxmlformats.org/drawingml/2006/main" noGrp="1"/>
          </p:cNvSpPr>
          <p:nvPr/>
        </p:nvSpPr>
        <p:spPr>
          <a:xfrm xmlns:a="http://schemas.openxmlformats.org/drawingml/2006/main">
            <a:off x="952500" y="4286250"/>
            <a:ext cx="723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xmlns:a="http://schemas.openxmlformats.org/drawingml/2006/main">
            <a:pPr algn="ctr">
              <a:buNone/>
              <a:defRPr sz="2250" b="0" i="0">
                <a:solidFill>
                  <a:srgbClr val="FFFFFF"/>
                </a:solidFill>
              </a:defRPr>
            </a:pPr>
            <a:r>
              <a:rPr sz="2250" b="0" i="0">
                <a:solidFill>
                  <a:srgbClr val="FFFFFF"/>
                </a:solidFill>
              </a:rPr>
              <a:t>Brad Daugherty  •  Wesley Siharath</a:t>
            </a:r>
          </a:p>
        </p:txBody>
      </p:sp>
      <p:sp>
        <p:nvSpPr>
          <p:cNvPr id="3" name="">
            <a:extLst xmlns:a="http://schemas.openxmlformats.org/drawingml/2006/main">
              <a:ext uri="{FF2B5EF4-FFF2-40B4-BE49-F238E27FC236}">
                <a16:creationId xmlns:a16="http://schemas.microsoft.com/office/drawing/2014/main" id="{7B96AC22-F9C7-4365-8E03-CDD4D7110DBE}"/>
              </a:ext>
            </a:extLst>
          </p:cNvPr>
          <p:cNvSpPr>
            <a:spLocks xmlns:a="http://schemas.openxmlformats.org/drawingml/2006/main" noGrp="1"/>
          </p:cNvSpPr>
          <p:nvPr/>
        </p:nvSpPr>
        <p:spPr>
          <a:xfrm xmlns:a="http://schemas.openxmlformats.org/drawingml/2006/main">
            <a:off x="1238250" y="5019675"/>
            <a:ext cx="666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xmlns:a="http://schemas.openxmlformats.org/drawingml/2006/main">
            <a:pPr algn="ctr">
              <a:buNone/>
              <a:defRPr sz="1650" b="0" i="0">
                <a:solidFill>
                  <a:srgbClr val="D5D8DA"/>
                </a:solidFill>
              </a:defRPr>
            </a:pPr>
            <a:r>
              <a:rPr sz="1650" b="0" i="0">
                <a:solidFill>
                  <a:srgbClr val="D5D8DA"/>
                </a:solidFill>
              </a:rPr>
              <a:t>Go 4th Fridays  ·  October 23, 2026</a:t>
            </a:r>
          </a:p>
        </p:txBody>
      </p:sp>
      <p:sp>
        <p:nvSpPr>
          <p:cNvPr id="4" name="">
            <a:extLst xmlns:a="http://schemas.openxmlformats.org/drawingml/2006/main">
              <a:ext uri="{FF2B5EF4-FFF2-40B4-BE49-F238E27FC236}">
                <a16:creationId xmlns:a16="http://schemas.microsoft.com/office/drawing/2014/main" id="{1675AF90-ACB1-4495-A523-4F205D0DBC90}"/>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a:t>
            </a:r>
          </a:p>
        </p:txBody>
      </p:sp>
    </p:spTree>
    <p:extLst>
      <p:ext uri="{BB962C8B-B14F-4D97-AF65-F5344CB8AC3E}">
        <p14:creationId xmlns:p14="http://schemas.microsoft.com/office/powerpoint/2010/main" val="66711338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AC693DC-ADB3-44BD-B760-D12C9945D0C8}"/>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Writing the next rules</a:t>
            </a:r>
          </a:p>
        </p:txBody>
      </p:sp>
      <p:sp>
        <p:nvSpPr>
          <p:cNvPr id="2" name="">
            <a:extLst xmlns:a="http://schemas.openxmlformats.org/drawingml/2006/main">
              <a:ext uri="{FF2B5EF4-FFF2-40B4-BE49-F238E27FC236}">
                <a16:creationId xmlns:a16="http://schemas.microsoft.com/office/drawing/2014/main" id="{12D3E71C-AF76-4283-BA53-B68DB0444A6C}"/>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2</a:t>
            </a:r>
          </a:p>
        </p:txBody>
      </p:sp>
      <p:sp>
        <p:nvSpPr>
          <p:cNvPr id="3" name="">
            <a:extLst xmlns:a="http://schemas.openxmlformats.org/drawingml/2006/main">
              <a:ext uri="{FF2B5EF4-FFF2-40B4-BE49-F238E27FC236}">
                <a16:creationId xmlns:a16="http://schemas.microsoft.com/office/drawing/2014/main" id="{49832774-3187-4D2C-A6F6-52F25DFA0796}"/>
              </a:ext>
            </a:extLst>
          </p:cNvPr>
          <p:cNvSpPr>
            <a:spLocks xmlns:a="http://schemas.openxmlformats.org/drawingml/2006/main" noGrp="1"/>
          </p:cNvSpPr>
          <p:nvPr/>
        </p:nvSpPr>
        <p:spPr>
          <a:xfrm xmlns:a="http://schemas.openxmlformats.org/drawingml/2006/main">
            <a:off x="7239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1816</a:t>
            </a:r>
          </a:p>
        </p:txBody>
      </p:sp>
      <p:sp>
        <p:nvSpPr>
          <p:cNvPr id="4" name="">
            <a:extLst xmlns:a="http://schemas.openxmlformats.org/drawingml/2006/main">
              <a:ext uri="{FF2B5EF4-FFF2-40B4-BE49-F238E27FC236}">
                <a16:creationId xmlns:a16="http://schemas.microsoft.com/office/drawing/2014/main" id="{421BD8B3-06FE-4F59-B92D-DF17072E027D}"/>
              </a:ext>
            </a:extLst>
          </p:cNvPr>
          <p:cNvSpPr>
            <a:spLocks xmlns:a="http://schemas.openxmlformats.org/drawingml/2006/main" noGrp="1"/>
          </p:cNvSpPr>
          <p:nvPr/>
        </p:nvSpPr>
        <p:spPr>
          <a:xfrm xmlns:a="http://schemas.openxmlformats.org/drawingml/2006/main">
            <a:off x="7239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Remington</a:t>
            </a:r>
          </a:p>
        </p:txBody>
      </p:sp>
      <p:sp>
        <p:nvSpPr>
          <p:cNvPr id="5" name="">
            <a:extLst xmlns:a="http://schemas.openxmlformats.org/drawingml/2006/main">
              <a:ext uri="{FF2B5EF4-FFF2-40B4-BE49-F238E27FC236}">
                <a16:creationId xmlns:a16="http://schemas.microsoft.com/office/drawing/2014/main" id="{764AA312-8600-4239-839A-62BFEBAC26C2}"/>
              </a:ext>
            </a:extLst>
          </p:cNvPr>
          <p:cNvSpPr>
            <a:spLocks xmlns:a="http://schemas.openxmlformats.org/drawingml/2006/main" noGrp="1"/>
          </p:cNvSpPr>
          <p:nvPr/>
        </p:nvSpPr>
        <p:spPr>
          <a:xfrm xmlns:a="http://schemas.openxmlformats.org/drawingml/2006/main">
            <a:off x="34290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1969</a:t>
            </a:r>
          </a:p>
        </p:txBody>
      </p:sp>
      <p:sp>
        <p:nvSpPr>
          <p:cNvPr id="6" name="">
            <a:extLst xmlns:a="http://schemas.openxmlformats.org/drawingml/2006/main">
              <a:ext uri="{FF2B5EF4-FFF2-40B4-BE49-F238E27FC236}">
                <a16:creationId xmlns:a16="http://schemas.microsoft.com/office/drawing/2014/main" id="{20E15801-E743-4600-BC18-DB830F99A579}"/>
              </a:ext>
            </a:extLst>
          </p:cNvPr>
          <p:cNvSpPr>
            <a:spLocks xmlns:a="http://schemas.openxmlformats.org/drawingml/2006/main" noGrp="1"/>
          </p:cNvSpPr>
          <p:nvPr/>
        </p:nvSpPr>
        <p:spPr>
          <a:xfrm xmlns:a="http://schemas.openxmlformats.org/drawingml/2006/main">
            <a:off x="34290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Lonoke, Arkansas</a:t>
            </a:r>
          </a:p>
        </p:txBody>
      </p:sp>
      <p:sp>
        <p:nvSpPr>
          <p:cNvPr id="7" name="">
            <a:extLst xmlns:a="http://schemas.openxmlformats.org/drawingml/2006/main">
              <a:ext uri="{FF2B5EF4-FFF2-40B4-BE49-F238E27FC236}">
                <a16:creationId xmlns:a16="http://schemas.microsoft.com/office/drawing/2014/main" id="{D177DCFC-C46C-479B-87AD-CF5C7CAB4F2F}"/>
              </a:ext>
            </a:extLst>
          </p:cNvPr>
          <p:cNvSpPr>
            <a:spLocks xmlns:a="http://schemas.openxmlformats.org/drawingml/2006/main" noGrp="1"/>
          </p:cNvSpPr>
          <p:nvPr/>
        </p:nvSpPr>
        <p:spPr>
          <a:xfrm xmlns:a="http://schemas.openxmlformats.org/drawingml/2006/main">
            <a:off x="62103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NEXT</a:t>
            </a:r>
          </a:p>
        </p:txBody>
      </p:sp>
      <p:sp>
        <p:nvSpPr>
          <p:cNvPr id="8" name="">
            <a:extLst xmlns:a="http://schemas.openxmlformats.org/drawingml/2006/main">
              <a:ext uri="{FF2B5EF4-FFF2-40B4-BE49-F238E27FC236}">
                <a16:creationId xmlns:a16="http://schemas.microsoft.com/office/drawing/2014/main" id="{C3484B32-C19C-486F-BA3A-43B81D9CF873}"/>
              </a:ext>
            </a:extLst>
          </p:cNvPr>
          <p:cNvSpPr>
            <a:spLocks xmlns:a="http://schemas.openxmlformats.org/drawingml/2006/main" noGrp="1"/>
          </p:cNvSpPr>
          <p:nvPr/>
        </p:nvSpPr>
        <p:spPr>
          <a:xfrm xmlns:a="http://schemas.openxmlformats.org/drawingml/2006/main">
            <a:off x="62103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Remington + TKG</a:t>
            </a:r>
          </a:p>
        </p:txBody>
      </p:sp>
      <p:sp>
        <p:nvSpPr>
          <p:cNvPr id="9" name="">
            <a:extLst xmlns:a="http://schemas.openxmlformats.org/drawingml/2006/main">
              <a:ext uri="{FF2B5EF4-FFF2-40B4-BE49-F238E27FC236}">
                <a16:creationId xmlns:a16="http://schemas.microsoft.com/office/drawing/2014/main" id="{E4838EB9-11B7-4449-9E65-E46A7DE866D0}"/>
              </a:ext>
            </a:extLst>
          </p:cNvPr>
          <p:cNvSpPr>
            <a:spLocks xmlns:a="http://schemas.openxmlformats.org/drawingml/2006/main" noGrp="1"/>
          </p:cNvSpPr>
          <p:nvPr/>
        </p:nvSpPr>
        <p:spPr>
          <a:xfrm xmlns:a="http://schemas.openxmlformats.org/drawingml/2006/main">
            <a:off x="723900" y="5124450"/>
            <a:ext cx="7858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xmlns:a="http://schemas.openxmlformats.org/drawingml/2006/main">
            <a:pPr algn="l">
              <a:buNone/>
              <a:defRPr sz="2550" b="1" i="0">
                <a:solidFill>
                  <a:srgbClr val="FFFFFF"/>
                </a:solidFill>
              </a:defRPr>
            </a:pPr>
            <a:r>
              <a:rPr sz="2550" b="1" i="0">
                <a:solidFill>
                  <a:srgbClr val="FFFFFF"/>
                </a:solidFill>
              </a:rPr>
              <a:t>Keep writing the rules for decades to come.</a:t>
            </a:r>
          </a:p>
        </p:txBody>
      </p:sp>
      <p:sp>
        <p:nvSpPr>
          <p:cNvPr id="11" name="">
            <a:extLst xmlns:a="http://schemas.openxmlformats.org/drawingml/2006/main">
              <a:ext uri="{FF2B5EF4-FFF2-40B4-BE49-F238E27FC236}">
                <a16:creationId xmlns:a16="http://schemas.microsoft.com/office/drawing/2014/main" id="{4F10A49B-1807-4AE6-B554-7F74A182FBB9}"/>
              </a:ext>
            </a:extLst>
          </p:cNvPr>
          <p:cNvSpPr>
            <a:spLocks xmlns:a="http://schemas.openxmlformats.org/drawingml/2006/main" noGrp="1"/>
          </p:cNvSpPr>
          <p:nvPr/>
        </p:nvSpPr>
        <p:spPr>
          <a:xfrm xmlns:a="http://schemas.openxmlformats.org/drawingml/2006/main">
            <a:off x="723900" y="4429125"/>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xmlns:a="http://schemas.openxmlformats.org/drawingml/2006/main">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p14:creationId xmlns:p14="http://schemas.microsoft.com/office/powerpoint/2010/main" val="155408109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D22FF75-5B25-47DA-9C89-F014C4B1A03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The stakes are real</a:t>
            </a:r>
          </a:p>
        </p:txBody>
      </p:sp>
      <p:sp>
        <p:nvSpPr>
          <p:cNvPr id="2" name="">
            <a:extLst xmlns:a="http://schemas.openxmlformats.org/drawingml/2006/main">
              <a:ext uri="{FF2B5EF4-FFF2-40B4-BE49-F238E27FC236}">
                <a16:creationId xmlns:a16="http://schemas.microsoft.com/office/drawing/2014/main" id="{9617ED25-3782-4F93-B42D-EB969BFB6419}"/>
              </a:ext>
            </a:extLst>
          </p:cNvPr>
          <p:cNvSpPr>
            <a:spLocks xmlns:a="http://schemas.openxmlformats.org/drawingml/2006/main" noGrp="1"/>
          </p:cNvSpPr>
          <p:nvPr/>
        </p:nvSpPr>
        <p:spPr>
          <a:xfrm xmlns:a="http://schemas.openxmlformats.org/drawingml/2006/main">
            <a:off x="723900" y="2743200"/>
            <a:ext cx="7810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xmlns:a="http://schemas.openxmlformats.org/drawingml/2006/main">
            <a:pPr algn="l">
              <a:defRPr sz="3225" b="1" i="0">
                <a:solidFill>
                  <a:srgbClr val="BEA06A"/>
                </a:solidFill>
              </a:defRPr>
            </a:pPr>
            <a:r>
              <a:rPr sz="3225" b="1" i="0">
                <a:solidFill>
                  <a:srgbClr val="BEA06A"/>
                </a:solidFill>
              </a:rPr>
              <a:t>Ammunition manufacturing</a:t>
            </a:r>
          </a:p>
        </p:txBody>
      </p:sp>
      <p:sp>
        <p:nvSpPr>
          <p:cNvPr id="3" name="">
            <a:extLst xmlns:a="http://schemas.openxmlformats.org/drawingml/2006/main">
              <a:ext uri="{FF2B5EF4-FFF2-40B4-BE49-F238E27FC236}">
                <a16:creationId xmlns:a16="http://schemas.microsoft.com/office/drawing/2014/main" id="{8BA32C32-AFFD-404C-81BF-4A0718BF792A}"/>
              </a:ext>
            </a:extLst>
          </p:cNvPr>
          <p:cNvSpPr>
            <a:spLocks xmlns:a="http://schemas.openxmlformats.org/drawingml/2006/main" noGrp="1"/>
          </p:cNvSpPr>
          <p:nvPr/>
        </p:nvSpPr>
        <p:spPr>
          <a:xfrm xmlns:a="http://schemas.openxmlformats.org/drawingml/2006/main">
            <a:off x="723900" y="3714750"/>
            <a:ext cx="7810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xmlns:a="http://schemas.openxmlformats.org/drawingml/2006/main">
            <a:pPr algn="l">
              <a:defRPr sz="2250" b="0" i="0">
                <a:solidFill>
                  <a:srgbClr val="FFFFFF"/>
                </a:solidFill>
              </a:defRPr>
            </a:pPr>
            <a:r>
              <a:rPr sz="2250" b="0" i="0">
                <a:solidFill>
                  <a:srgbClr val="FFFFFF"/>
                </a:solidFill>
              </a:rPr>
              <a:t>Propellants and primers. Moving machinery.</a:t>
            </a:r>
          </a:p>
          <a:p xmlns:a="http://schemas.openxmlformats.org/drawingml/2006/main">
            <a:pPr algn="l">
              <a:defRPr sz="2250" b="0" i="0">
                <a:solidFill>
                  <a:srgbClr val="FFFFFF"/>
                </a:solidFill>
              </a:defRPr>
            </a:pPr>
            <a:r>
              <a:rPr sz="2250" b="0" i="0">
                <a:solidFill>
                  <a:srgbClr val="FFFFFF"/>
                </a:solidFill>
              </a:rPr>
              <a:t>Real production.</a:t>
            </a:r>
          </a:p>
        </p:txBody>
      </p:sp>
      <p:sp>
        <p:nvSpPr>
          <p:cNvPr id="4" name="">
            <a:extLst xmlns:a="http://schemas.openxmlformats.org/drawingml/2006/main">
              <a:ext uri="{FF2B5EF4-FFF2-40B4-BE49-F238E27FC236}">
                <a16:creationId xmlns:a16="http://schemas.microsoft.com/office/drawing/2014/main" id="{867EFB6A-CFD9-4C2B-A4E4-A5FB7FD41BB8}"/>
              </a:ext>
            </a:extLst>
          </p:cNvPr>
          <p:cNvSpPr>
            <a:spLocks xmlns:a="http://schemas.openxmlformats.org/drawingml/2006/main" noGrp="1"/>
          </p:cNvSpPr>
          <p:nvPr/>
        </p:nvSpPr>
        <p:spPr>
          <a:xfrm xmlns:a="http://schemas.openxmlformats.org/drawingml/2006/main">
            <a:off x="723900" y="5314950"/>
            <a:ext cx="781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xmlns:a="http://schemas.openxmlformats.org/drawingml/2006/main">
            <a:pPr algn="l">
              <a:defRPr sz="2325" b="1" i="0">
                <a:solidFill>
                  <a:srgbClr val="FFFFFF"/>
                </a:solidFill>
              </a:defRPr>
            </a:pPr>
            <a:r>
              <a:rPr sz="2325" b="1" i="0">
                <a:solidFill>
                  <a:srgbClr val="FFFFFF"/>
                </a:solidFill>
              </a:rPr>
              <a:t>Build with the people who rely on it.</a:t>
            </a:r>
          </a:p>
        </p:txBody>
      </p:sp>
      <p:sp>
        <p:nvSpPr>
          <p:cNvPr id="5" name="">
            <a:extLst xmlns:a="http://schemas.openxmlformats.org/drawingml/2006/main">
              <a:ext uri="{FF2B5EF4-FFF2-40B4-BE49-F238E27FC236}">
                <a16:creationId xmlns:a16="http://schemas.microsoft.com/office/drawing/2014/main" id="{A468379D-915A-4138-A97D-416741AE5643}"/>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3</a:t>
            </a:r>
          </a:p>
        </p:txBody>
      </p:sp>
    </p:spTree>
    <p:extLst>
      <p:ext uri="{BB962C8B-B14F-4D97-AF65-F5344CB8AC3E}">
        <p14:creationId xmlns:p14="http://schemas.microsoft.com/office/powerpoint/2010/main" val="57625842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F38884-198E-4A16-8A86-C1862F382EE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Engineering that reaches the floor</a:t>
            </a:r>
          </a:p>
        </p:txBody>
      </p:sp>
      <p:sp>
        <p:nvSpPr>
          <p:cNvPr id="2" name="">
            <a:extLst xmlns:a="http://schemas.openxmlformats.org/drawingml/2006/main">
              <a:ext uri="{FF2B5EF4-FFF2-40B4-BE49-F238E27FC236}">
                <a16:creationId xmlns:a16="http://schemas.microsoft.com/office/drawing/2014/main" id="{FBBC7091-D511-4C55-BC16-67368151C20D}"/>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4</a:t>
            </a:r>
          </a:p>
        </p:txBody>
      </p:sp>
      <p:sp>
        <p:nvSpPr>
          <p:cNvPr id="3" name="">
            <a:extLst xmlns:a="http://schemas.openxmlformats.org/drawingml/2006/main">
              <a:ext uri="{FF2B5EF4-FFF2-40B4-BE49-F238E27FC236}">
                <a16:creationId xmlns:a16="http://schemas.microsoft.com/office/drawing/2014/main" id="{397AAB4E-702C-4357-88ED-A71219DCD0B1}"/>
              </a:ext>
            </a:extLst>
          </p:cNvPr>
          <p:cNvSpPr>
            <a:spLocks xmlns:a="http://schemas.openxmlformats.org/drawingml/2006/main" noGrp="1"/>
          </p:cNvSpPr>
          <p:nvPr/>
        </p:nvSpPr>
        <p:spPr>
          <a:xfrm xmlns:a="http://schemas.openxmlformats.org/drawingml/2006/main">
            <a:off x="72390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SENSE</a:t>
            </a:r>
          </a:p>
        </p:txBody>
      </p:sp>
      <p:sp>
        <p:nvSpPr>
          <p:cNvPr id="4" name="">
            <a:extLst xmlns:a="http://schemas.openxmlformats.org/drawingml/2006/main">
              <a:ext uri="{FF2B5EF4-FFF2-40B4-BE49-F238E27FC236}">
                <a16:creationId xmlns:a16="http://schemas.microsoft.com/office/drawing/2014/main" id="{A34BA23E-0CD2-4E38-8F37-7AAB56C38762}"/>
              </a:ext>
            </a:extLst>
          </p:cNvPr>
          <p:cNvSpPr>
            <a:spLocks xmlns:a="http://schemas.openxmlformats.org/drawingml/2006/main" noGrp="1"/>
          </p:cNvSpPr>
          <p:nvPr/>
        </p:nvSpPr>
        <p:spPr>
          <a:xfrm xmlns:a="http://schemas.openxmlformats.org/drawingml/2006/main">
            <a:off x="72390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Machines capture</a:t>
            </a:r>
          </a:p>
          <a:p xmlns:a="http://schemas.openxmlformats.org/drawingml/2006/main">
            <a:pPr algn="l">
              <a:buNone/>
              <a:defRPr sz="1875" b="0" i="0">
                <a:solidFill>
                  <a:srgbClr val="FFFFFF"/>
                </a:solidFill>
              </a:defRPr>
            </a:pPr>
            <a:r>
              <a:rPr sz="1875" b="0" i="0">
                <a:solidFill>
                  <a:srgbClr val="FFFFFF"/>
                </a:solidFill>
              </a:rPr>
              <a:t>what is happening</a:t>
            </a:r>
          </a:p>
        </p:txBody>
      </p:sp>
      <p:sp>
        <p:nvSpPr>
          <p:cNvPr id="5" name="">
            <a:extLst xmlns:a="http://schemas.openxmlformats.org/drawingml/2006/main">
              <a:ext uri="{FF2B5EF4-FFF2-40B4-BE49-F238E27FC236}">
                <a16:creationId xmlns:a16="http://schemas.microsoft.com/office/drawing/2014/main" id="{74EF2072-0F5B-4869-B3C8-B8EF0150DF55}"/>
              </a:ext>
            </a:extLst>
          </p:cNvPr>
          <p:cNvSpPr>
            <a:spLocks xmlns:a="http://schemas.openxmlformats.org/drawingml/2006/main" noGrp="1"/>
          </p:cNvSpPr>
          <p:nvPr/>
        </p:nvSpPr>
        <p:spPr>
          <a:xfrm xmlns:a="http://schemas.openxmlformats.org/drawingml/2006/main">
            <a:off x="3419475"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DECIDE</a:t>
            </a:r>
          </a:p>
        </p:txBody>
      </p:sp>
      <p:sp>
        <p:nvSpPr>
          <p:cNvPr id="6" name="">
            <a:extLst xmlns:a="http://schemas.openxmlformats.org/drawingml/2006/main">
              <a:ext uri="{FF2B5EF4-FFF2-40B4-BE49-F238E27FC236}">
                <a16:creationId xmlns:a16="http://schemas.microsoft.com/office/drawing/2014/main" id="{578E9F30-B97B-4D21-9887-533D7D1E5D39}"/>
              </a:ext>
            </a:extLst>
          </p:cNvPr>
          <p:cNvSpPr>
            <a:spLocks xmlns:a="http://schemas.openxmlformats.org/drawingml/2006/main" noGrp="1"/>
          </p:cNvSpPr>
          <p:nvPr/>
        </p:nvSpPr>
        <p:spPr>
          <a:xfrm xmlns:a="http://schemas.openxmlformats.org/drawingml/2006/main">
            <a:off x="3419475"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Software turns signals</a:t>
            </a:r>
          </a:p>
          <a:p xmlns:a="http://schemas.openxmlformats.org/drawingml/2006/main">
            <a:pPr algn="l">
              <a:buNone/>
              <a:defRPr sz="1875" b="0" i="0">
                <a:solidFill>
                  <a:srgbClr val="FFFFFF"/>
                </a:solidFill>
              </a:defRPr>
            </a:pPr>
            <a:r>
              <a:rPr sz="1875" b="0" i="0">
                <a:solidFill>
                  <a:srgbClr val="FFFFFF"/>
                </a:solidFill>
              </a:rPr>
              <a:t>into a decision</a:t>
            </a:r>
          </a:p>
        </p:txBody>
      </p:sp>
      <p:sp>
        <p:nvSpPr>
          <p:cNvPr id="7" name="">
            <a:extLst xmlns:a="http://schemas.openxmlformats.org/drawingml/2006/main">
              <a:ext uri="{FF2B5EF4-FFF2-40B4-BE49-F238E27FC236}">
                <a16:creationId xmlns:a16="http://schemas.microsoft.com/office/drawing/2014/main" id="{3644D645-77AD-4BEA-B186-DA1B65F1C548}"/>
              </a:ext>
            </a:extLst>
          </p:cNvPr>
          <p:cNvSpPr>
            <a:spLocks xmlns:a="http://schemas.openxmlformats.org/drawingml/2006/main" noGrp="1"/>
          </p:cNvSpPr>
          <p:nvPr/>
        </p:nvSpPr>
        <p:spPr>
          <a:xfrm xmlns:a="http://schemas.openxmlformats.org/drawingml/2006/main">
            <a:off x="622935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ACT</a:t>
            </a:r>
          </a:p>
        </p:txBody>
      </p:sp>
      <p:sp>
        <p:nvSpPr>
          <p:cNvPr id="8" name="">
            <a:extLst xmlns:a="http://schemas.openxmlformats.org/drawingml/2006/main">
              <a:ext uri="{FF2B5EF4-FFF2-40B4-BE49-F238E27FC236}">
                <a16:creationId xmlns:a16="http://schemas.microsoft.com/office/drawing/2014/main" id="{8CD4209B-EEAA-49CF-B1CF-B1BCE1C02033}"/>
              </a:ext>
            </a:extLst>
          </p:cNvPr>
          <p:cNvSpPr>
            <a:spLocks xmlns:a="http://schemas.openxmlformats.org/drawingml/2006/main" noGrp="1"/>
          </p:cNvSpPr>
          <p:nvPr/>
        </p:nvSpPr>
        <p:spPr>
          <a:xfrm xmlns:a="http://schemas.openxmlformats.org/drawingml/2006/main">
            <a:off x="622935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People and equipment</a:t>
            </a:r>
          </a:p>
          <a:p xmlns:a="http://schemas.openxmlformats.org/drawingml/2006/main">
            <a:pPr algn="l">
              <a:buNone/>
              <a:defRPr sz="1875" b="0" i="0">
                <a:solidFill>
                  <a:srgbClr val="FFFFFF"/>
                </a:solidFill>
              </a:defRPr>
            </a:pPr>
            <a:r>
              <a:rPr sz="1875" b="0" i="0">
                <a:solidFill>
                  <a:srgbClr val="FFFFFF"/>
                </a:solidFill>
              </a:rPr>
              <a:t>respond</a:t>
            </a:r>
          </a:p>
        </p:txBody>
      </p:sp>
      <p:sp>
        <p:nvSpPr>
          <p:cNvPr id="9" name="">
            <a:extLst xmlns:a="http://schemas.openxmlformats.org/drawingml/2006/main">
              <a:ext uri="{FF2B5EF4-FFF2-40B4-BE49-F238E27FC236}">
                <a16:creationId xmlns:a16="http://schemas.microsoft.com/office/drawing/2014/main" id="{EFEC76D1-80FD-4BC8-AFC9-1E585F89C1B7}"/>
              </a:ext>
            </a:extLst>
          </p:cNvPr>
          <p:cNvSpPr>
            <a:spLocks xmlns:a="http://schemas.openxmlformats.org/drawingml/2006/main" noGrp="1"/>
          </p:cNvSpPr>
          <p:nvPr/>
        </p:nvSpPr>
        <p:spPr>
          <a:xfrm xmlns:a="http://schemas.openxmlformats.org/drawingml/2006/main">
            <a:off x="723900" y="5362575"/>
            <a:ext cx="7429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xmlns:a="http://schemas.openxmlformats.org/drawingml/2006/main">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p14:creationId xmlns:p14="http://schemas.microsoft.com/office/powerpoint/2010/main" val="102264667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02D145-63A5-4D8D-AFAA-8E1DDA390D36}"/>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The work spans the organization</a:t>
            </a:r>
          </a:p>
        </p:txBody>
      </p:sp>
      <p:sp>
        <p:nvSpPr>
          <p:cNvPr id="2" name="">
            <a:extLst xmlns:a="http://schemas.openxmlformats.org/drawingml/2006/main">
              <a:ext uri="{FF2B5EF4-FFF2-40B4-BE49-F238E27FC236}">
                <a16:creationId xmlns:a16="http://schemas.microsoft.com/office/drawing/2014/main" id="{76D95F68-FF4A-47B2-B52E-82565A65E4FF}"/>
              </a:ext>
            </a:extLst>
          </p:cNvPr>
          <p:cNvSpPr>
            <a:spLocks xmlns:a="http://schemas.openxmlformats.org/drawingml/2006/main" noGrp="1"/>
          </p:cNvSpPr>
          <p:nvPr/>
        </p:nvSpPr>
        <p:spPr>
          <a:xfrm xmlns:a="http://schemas.openxmlformats.org/drawingml/2006/main">
            <a:off x="723900" y="2771775"/>
            <a:ext cx="3857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LIVE IN PRODUCTION</a:t>
            </a:r>
          </a:p>
        </p:txBody>
      </p:sp>
      <p:sp>
        <p:nvSpPr>
          <p:cNvPr id="3" name="">
            <a:extLst xmlns:a="http://schemas.openxmlformats.org/drawingml/2006/main">
              <a:ext uri="{FF2B5EF4-FFF2-40B4-BE49-F238E27FC236}">
                <a16:creationId xmlns:a16="http://schemas.microsoft.com/office/drawing/2014/main" id="{57934EC7-4A7E-4795-ADF5-F5311C550969}"/>
              </a:ext>
            </a:extLst>
          </p:cNvPr>
          <p:cNvSpPr>
            <a:spLocks xmlns:a="http://schemas.openxmlformats.org/drawingml/2006/main" noGrp="1"/>
          </p:cNvSpPr>
          <p:nvPr/>
        </p:nvSpPr>
        <p:spPr>
          <a:xfrm xmlns:a="http://schemas.openxmlformats.org/drawingml/2006/main">
            <a:off x="723900" y="3400425"/>
            <a:ext cx="385762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xmlns:a="http://schemas.openxmlformats.org/drawingml/2006/main">
            <a:pPr algn="l">
              <a:defRPr sz="2025" b="0" i="0">
                <a:solidFill>
                  <a:srgbClr val="FFFFFF"/>
                </a:solidFill>
              </a:defRPr>
            </a:pPr>
            <a:r>
              <a:rPr sz="2025" b="0" i="0">
                <a:solidFill>
                  <a:srgbClr val="FFFFFF"/>
                </a:solidFill>
              </a:rPr>
              <a:t>SCADA</a:t>
            </a:r>
          </a:p>
          <a:p xmlns:a="http://schemas.openxmlformats.org/drawingml/2006/main">
            <a:pPr algn="l">
              <a:defRPr sz="2025" b="0" i="0">
                <a:solidFill>
                  <a:srgbClr val="FFFFFF"/>
                </a:solidFill>
              </a:defRPr>
            </a:pPr>
            <a:r>
              <a:rPr sz="2025" b="0" i="0">
                <a:solidFill>
                  <a:srgbClr val="FFFFFF"/>
                </a:solidFill>
              </a:rPr>
              <a:t>Centerfire inspection</a:t>
            </a:r>
          </a:p>
          <a:p xmlns:a="http://schemas.openxmlformats.org/drawingml/2006/main">
            <a:pPr algn="l">
              <a:defRPr sz="2025" b="0" i="0">
                <a:solidFill>
                  <a:srgbClr val="FFFFFF"/>
                </a:solidFill>
              </a:defRPr>
            </a:pPr>
            <a:r>
              <a:rPr sz="2025" b="0" i="0">
                <a:solidFill>
                  <a:srgbClr val="FFFFFF"/>
                </a:solidFill>
              </a:rPr>
              <a:t>Shotshell inspection</a:t>
            </a:r>
          </a:p>
        </p:txBody>
      </p:sp>
      <p:sp>
        <p:nvSpPr>
          <p:cNvPr id="4" name="">
            <a:extLst xmlns:a="http://schemas.openxmlformats.org/drawingml/2006/main">
              <a:ext uri="{FF2B5EF4-FFF2-40B4-BE49-F238E27FC236}">
                <a16:creationId xmlns:a16="http://schemas.microsoft.com/office/drawing/2014/main" id="{B3E9516A-69ED-4901-B7FE-B330CE25572C}"/>
              </a:ext>
            </a:extLst>
          </p:cNvPr>
          <p:cNvSpPr>
            <a:spLocks xmlns:a="http://schemas.openxmlformats.org/drawingml/2006/main" noGrp="1"/>
          </p:cNvSpPr>
          <p:nvPr/>
        </p:nvSpPr>
        <p:spPr>
          <a:xfrm xmlns:a="http://schemas.openxmlformats.org/drawingml/2006/main">
            <a:off x="4953000" y="2771775"/>
            <a:ext cx="3676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OTHER CAPABILITIES</a:t>
            </a:r>
          </a:p>
        </p:txBody>
      </p:sp>
      <p:sp>
        <p:nvSpPr>
          <p:cNvPr id="5" name="">
            <a:extLst xmlns:a="http://schemas.openxmlformats.org/drawingml/2006/main">
              <a:ext uri="{FF2B5EF4-FFF2-40B4-BE49-F238E27FC236}">
                <a16:creationId xmlns:a16="http://schemas.microsoft.com/office/drawing/2014/main" id="{961F9EAF-EDCD-41D9-9D0E-FC4877219D99}"/>
              </a:ext>
            </a:extLst>
          </p:cNvPr>
          <p:cNvSpPr>
            <a:spLocks xmlns:a="http://schemas.openxmlformats.org/drawingml/2006/main" noGrp="1"/>
          </p:cNvSpPr>
          <p:nvPr/>
        </p:nvSpPr>
        <p:spPr>
          <a:xfrm xmlns:a="http://schemas.openxmlformats.org/drawingml/2006/main">
            <a:off x="4953000" y="3400425"/>
            <a:ext cx="3619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xmlns:a="http://schemas.openxmlformats.org/drawingml/2006/main">
            <a:pPr algn="l">
              <a:defRPr sz="2025" b="0" i="0">
                <a:solidFill>
                  <a:srgbClr val="FFFFFF"/>
                </a:solidFill>
              </a:defRPr>
            </a:pPr>
            <a:r>
              <a:rPr sz="2025" b="0" i="0">
                <a:solidFill>
                  <a:srgbClr val="FFFFFF"/>
                </a:solidFill>
              </a:rPr>
              <a:t>Public sentiment</a:t>
            </a:r>
          </a:p>
          <a:p xmlns:a="http://schemas.openxmlformats.org/drawingml/2006/main">
            <a:pPr algn="l">
              <a:defRPr sz="2025" b="0" i="0">
                <a:solidFill>
                  <a:srgbClr val="FFFFFF"/>
                </a:solidFill>
              </a:defRPr>
            </a:pPr>
            <a:r>
              <a:rPr sz="2025" b="0" i="0">
                <a:solidFill>
                  <a:srgbClr val="FFFFFF"/>
                </a:solidFill>
              </a:rPr>
              <a:t>Remi</a:t>
            </a:r>
          </a:p>
        </p:txBody>
      </p:sp>
      <p:sp>
        <p:nvSpPr>
          <p:cNvPr id="6" name="">
            <a:extLst xmlns:a="http://schemas.openxmlformats.org/drawingml/2006/main">
              <a:ext uri="{FF2B5EF4-FFF2-40B4-BE49-F238E27FC236}">
                <a16:creationId xmlns:a16="http://schemas.microsoft.com/office/drawing/2014/main" id="{C90BB98B-14F2-4C32-9D6E-77ECFB3534F5}"/>
              </a:ext>
            </a:extLst>
          </p:cNvPr>
          <p:cNvSpPr>
            <a:spLocks xmlns:a="http://schemas.openxmlformats.org/drawingml/2006/main" noGrp="1"/>
          </p:cNvSpPr>
          <p:nvPr/>
        </p:nvSpPr>
        <p:spPr>
          <a:xfrm xmlns:a="http://schemas.openxmlformats.org/drawingml/2006/main">
            <a:off x="723900" y="5362575"/>
            <a:ext cx="78105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xmlns:a="http://schemas.openxmlformats.org/drawingml/2006/main">
            <a:pPr algn="l">
              <a:defRPr sz="2100" b="1" i="0">
                <a:solidFill>
                  <a:srgbClr val="FFFFFF"/>
                </a:solidFill>
              </a:defRPr>
            </a:pPr>
            <a:r>
              <a:rPr sz="2100" b="1" i="0">
                <a:solidFill>
                  <a:srgbClr val="FFFFFF"/>
                </a:solidFill>
              </a:rPr>
              <a:t>Each system helps someone make a better decision.</a:t>
            </a:r>
          </a:p>
        </p:txBody>
      </p:sp>
      <p:sp>
        <p:nvSpPr>
          <p:cNvPr id="7" name="">
            <a:extLst xmlns:a="http://schemas.openxmlformats.org/drawingml/2006/main">
              <a:ext uri="{FF2B5EF4-FFF2-40B4-BE49-F238E27FC236}">
                <a16:creationId xmlns:a16="http://schemas.microsoft.com/office/drawing/2014/main" id="{97DCA6FC-32C0-4710-8448-724E5C7CFABB}"/>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5</a:t>
            </a:r>
          </a:p>
        </p:txBody>
      </p:sp>
    </p:spTree>
    <p:extLst>
      <p:ext uri="{BB962C8B-B14F-4D97-AF65-F5344CB8AC3E}">
        <p14:creationId xmlns:p14="http://schemas.microsoft.com/office/powerpoint/2010/main" val="207256118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D43181C-CCD5-40EE-8B1D-5028DB3B80D6}"/>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SCADA</a:t>
            </a:r>
          </a:p>
        </p:txBody>
      </p:sp>
      <p:sp>
        <p:nvSpPr>
          <p:cNvPr id="2" name="">
            <a:extLst xmlns:a="http://schemas.openxmlformats.org/drawingml/2006/main">
              <a:ext uri="{FF2B5EF4-FFF2-40B4-BE49-F238E27FC236}">
                <a16:creationId xmlns:a16="http://schemas.microsoft.com/office/drawing/2014/main" id="{35F0749F-02D0-4D41-B541-8FA81365D06F}"/>
              </a:ext>
            </a:extLst>
          </p:cNvPr>
          <p:cNvSpPr>
            <a:spLocks xmlns:a="http://schemas.openxmlformats.org/drawingml/2006/main" noGrp="1"/>
          </p:cNvSpPr>
          <p:nvPr/>
        </p:nvSpPr>
        <p:spPr>
          <a:xfrm xmlns:a="http://schemas.openxmlformats.org/drawingml/2006/main">
            <a:off x="723900" y="2724150"/>
            <a:ext cx="77533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925" b="1" i="0">
                <a:solidFill>
                  <a:srgbClr val="FFFFFF"/>
                </a:solidFill>
              </a:defRPr>
            </a:defPPr>
            <a:lvl1pPr algn="l">
              <a:defRPr sz="2925" b="1" i="0">
                <a:solidFill>
                  <a:srgbClr val="FFFFFF"/>
                </a:solidFill>
              </a:defRPr>
            </a:lvl1pPr>
            <a:lvl2pPr algn="l">
              <a:defRPr sz="2925" b="1" i="0">
                <a:solidFill>
                  <a:srgbClr val="FFFFFF"/>
                </a:solidFill>
              </a:defRPr>
            </a:lvl2pPr>
            <a:lvl3pPr algn="l">
              <a:defRPr sz="2925" b="1" i="0">
                <a:solidFill>
                  <a:srgbClr val="FFFFFF"/>
                </a:solidFill>
              </a:defRPr>
            </a:lvl3pPr>
            <a:lvl4pPr algn="l">
              <a:defRPr sz="2925" b="1" i="0">
                <a:solidFill>
                  <a:srgbClr val="FFFFFF"/>
                </a:solidFill>
              </a:defRPr>
            </a:lvl4pPr>
            <a:lvl5pPr algn="l">
              <a:defRPr sz="2925" b="1" i="0">
                <a:solidFill>
                  <a:srgbClr val="FFFFFF"/>
                </a:solidFill>
              </a:defRPr>
            </a:lvl5pPr>
            <a:lvl6pPr algn="l">
              <a:defRPr sz="2925" b="1" i="0">
                <a:solidFill>
                  <a:srgbClr val="FFFFFF"/>
                </a:solidFill>
              </a:defRPr>
            </a:lvl6pPr>
            <a:lvl7pPr algn="l">
              <a:defRPr sz="2925" b="1" i="0">
                <a:solidFill>
                  <a:srgbClr val="FFFFFF"/>
                </a:solidFill>
              </a:defRPr>
            </a:lvl7pPr>
            <a:lvl8pPr algn="l">
              <a:defRPr sz="2925" b="1" i="0">
                <a:solidFill>
                  <a:srgbClr val="FFFFFF"/>
                </a:solidFill>
              </a:defRPr>
            </a:lvl8pPr>
            <a:lvl9pPr algn="l">
              <a:defRPr sz="2925" b="1" i="0">
                <a:solidFill>
                  <a:srgbClr val="FFFFFF"/>
                </a:solidFill>
              </a:defRPr>
            </a:lvl9pPr>
          </a:lstStyle>
          <a:p xmlns:a="http://schemas.openxmlformats.org/drawingml/2006/main">
            <a:pPr algn="l">
              <a:defRPr sz="2925" b="1" i="0">
                <a:solidFill>
                  <a:srgbClr val="FFFFFF"/>
                </a:solidFill>
              </a:defRPr>
            </a:pPr>
            <a:r>
              <a:rPr sz="2925" b="1" i="0">
                <a:solidFill>
                  <a:srgbClr val="FFFFFF"/>
                </a:solidFill>
              </a:rPr>
              <a:t>Machine signals become</a:t>
            </a:r>
          </a:p>
          <a:p xmlns:a="http://schemas.openxmlformats.org/drawingml/2006/main">
            <a:pPr algn="l">
              <a:defRPr sz="2925" b="1" i="0">
                <a:solidFill>
                  <a:srgbClr val="FFFFFF"/>
                </a:solidFill>
              </a:defRPr>
            </a:pPr>
            <a:r>
              <a:rPr sz="2925" b="1" i="0">
                <a:solidFill>
                  <a:srgbClr val="FFFFFF"/>
                </a:solidFill>
              </a:rPr>
              <a:t>a shared production history.</a:t>
            </a:r>
          </a:p>
        </p:txBody>
      </p:sp>
      <p:sp>
        <p:nvSpPr>
          <p:cNvPr id="3" name="">
            <a:extLst xmlns:a="http://schemas.openxmlformats.org/drawingml/2006/main">
              <a:ext uri="{FF2B5EF4-FFF2-40B4-BE49-F238E27FC236}">
                <a16:creationId xmlns:a16="http://schemas.microsoft.com/office/drawing/2014/main" id="{3978D215-6A06-4B35-921B-F13758577C45}"/>
              </a:ext>
            </a:extLst>
          </p:cNvPr>
          <p:cNvSpPr>
            <a:spLocks xmlns:a="http://schemas.openxmlformats.org/drawingml/2006/main" noGrp="1"/>
          </p:cNvSpPr>
          <p:nvPr/>
        </p:nvSpPr>
        <p:spPr>
          <a:xfrm xmlns:a="http://schemas.openxmlformats.org/drawingml/2006/main">
            <a:off x="723900" y="4362450"/>
            <a:ext cx="771525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0" i="0">
                <a:solidFill>
                  <a:srgbClr val="BEA06A"/>
                </a:solidFill>
              </a:defRPr>
            </a:defPPr>
            <a:lvl1pPr algn="l">
              <a:defRPr sz="2325" b="0" i="0">
                <a:solidFill>
                  <a:srgbClr val="BEA06A"/>
                </a:solidFill>
              </a:defRPr>
            </a:lvl1pPr>
            <a:lvl2pPr algn="l">
              <a:defRPr sz="2325" b="0" i="0">
                <a:solidFill>
                  <a:srgbClr val="BEA06A"/>
                </a:solidFill>
              </a:defRPr>
            </a:lvl2pPr>
            <a:lvl3pPr algn="l">
              <a:defRPr sz="2325" b="0" i="0">
                <a:solidFill>
                  <a:srgbClr val="BEA06A"/>
                </a:solidFill>
              </a:defRPr>
            </a:lvl3pPr>
            <a:lvl4pPr algn="l">
              <a:defRPr sz="2325" b="0" i="0">
                <a:solidFill>
                  <a:srgbClr val="BEA06A"/>
                </a:solidFill>
              </a:defRPr>
            </a:lvl4pPr>
            <a:lvl5pPr algn="l">
              <a:defRPr sz="2325" b="0" i="0">
                <a:solidFill>
                  <a:srgbClr val="BEA06A"/>
                </a:solidFill>
              </a:defRPr>
            </a:lvl5pPr>
            <a:lvl6pPr algn="l">
              <a:defRPr sz="2325" b="0" i="0">
                <a:solidFill>
                  <a:srgbClr val="BEA06A"/>
                </a:solidFill>
              </a:defRPr>
            </a:lvl6pPr>
            <a:lvl7pPr algn="l">
              <a:defRPr sz="2325" b="0" i="0">
                <a:solidFill>
                  <a:srgbClr val="BEA06A"/>
                </a:solidFill>
              </a:defRPr>
            </a:lvl7pPr>
            <a:lvl8pPr algn="l">
              <a:defRPr sz="2325" b="0" i="0">
                <a:solidFill>
                  <a:srgbClr val="BEA06A"/>
                </a:solidFill>
              </a:defRPr>
            </a:lvl8pPr>
            <a:lvl9pPr algn="l">
              <a:defRPr sz="2325" b="0" i="0">
                <a:solidFill>
                  <a:srgbClr val="BEA06A"/>
                </a:solidFill>
              </a:defRPr>
            </a:lvl9pPr>
          </a:lstStyle>
          <a:p xmlns:a="http://schemas.openxmlformats.org/drawingml/2006/main">
            <a:pPr algn="l">
              <a:defRPr sz="2325" b="0" i="0">
                <a:solidFill>
                  <a:srgbClr val="BEA06A"/>
                </a:solidFill>
              </a:defRPr>
            </a:pPr>
            <a:r>
              <a:rPr sz="2325" b="0" i="0">
                <a:solidFill>
                  <a:srgbClr val="BEA06A"/>
                </a:solidFill>
              </a:rPr>
              <a:t>What is happening now? What changed?</a:t>
            </a:r>
          </a:p>
        </p:txBody>
      </p:sp>
      <p:sp>
        <p:nvSpPr>
          <p:cNvPr id="4" name="">
            <a:extLst xmlns:a="http://schemas.openxmlformats.org/drawingml/2006/main">
              <a:ext uri="{FF2B5EF4-FFF2-40B4-BE49-F238E27FC236}">
                <a16:creationId xmlns:a16="http://schemas.microsoft.com/office/drawing/2014/main" id="{20DF886C-83CE-4E2C-8BFB-B3E148DCD62F}"/>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xmlns:a="http://schemas.openxmlformats.org/drawingml/2006/main">
            <a:pPr algn="l">
              <a:defRPr sz="1950" b="0" i="0">
                <a:solidFill>
                  <a:srgbClr val="D5D8DA"/>
                </a:solidFill>
              </a:defRPr>
            </a:pPr>
            <a:r>
              <a:rPr sz="1950" b="0" i="0">
                <a:solidFill>
                  <a:srgbClr val="D5D8DA"/>
                </a:solidFill>
              </a:rPr>
              <a:t>Live on the floor. Still improving.</a:t>
            </a:r>
          </a:p>
        </p:txBody>
      </p:sp>
      <p:sp>
        <p:nvSpPr>
          <p:cNvPr id="5" name="">
            <a:extLst xmlns:a="http://schemas.openxmlformats.org/drawingml/2006/main">
              <a:ext uri="{FF2B5EF4-FFF2-40B4-BE49-F238E27FC236}">
                <a16:creationId xmlns:a16="http://schemas.microsoft.com/office/drawing/2014/main" id="{12CBA38E-E543-4AB0-9043-72C3D9800C98}"/>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6</a:t>
            </a:r>
          </a:p>
        </p:txBody>
      </p:sp>
    </p:spTree>
    <p:extLst>
      <p:ext uri="{BB962C8B-B14F-4D97-AF65-F5344CB8AC3E}">
        <p14:creationId xmlns:p14="http://schemas.microsoft.com/office/powerpoint/2010/main" val="90719817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47B281-DF16-4F21-9F61-FAEF3D12CBF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Centerfire inspection</a:t>
            </a:r>
          </a:p>
        </p:txBody>
      </p:sp>
      <p:sp>
        <p:nvSpPr>
          <p:cNvPr id="2" name="">
            <a:extLst xmlns:a="http://schemas.openxmlformats.org/drawingml/2006/main">
              <a:ext uri="{FF2B5EF4-FFF2-40B4-BE49-F238E27FC236}">
                <a16:creationId xmlns:a16="http://schemas.microsoft.com/office/drawing/2014/main" id="{913F532E-68E3-41BB-BCF3-2E00BE7C661B}"/>
              </a:ext>
            </a:extLst>
          </p:cNvPr>
          <p:cNvSpPr>
            <a:spLocks xmlns:a="http://schemas.openxmlformats.org/drawingml/2006/main" noGrp="1"/>
          </p:cNvSpPr>
          <p:nvPr/>
        </p:nvSpPr>
        <p:spPr>
          <a:xfrm xmlns:a="http://schemas.openxmlformats.org/drawingml/2006/main">
            <a:off x="723900" y="2676525"/>
            <a:ext cx="77343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xmlns:a="http://schemas.openxmlformats.org/drawingml/2006/main">
            <a:pPr algn="l">
              <a:defRPr sz="3000" b="1" i="0">
                <a:solidFill>
                  <a:srgbClr val="FFFFFF"/>
                </a:solidFill>
              </a:defRPr>
            </a:pPr>
            <a:r>
              <a:rPr sz="3000" b="1" i="0">
                <a:solidFill>
                  <a:srgbClr val="FFFFFF"/>
                </a:solidFill>
              </a:rPr>
              <a:t>Inspection within</a:t>
            </a:r>
          </a:p>
          <a:p xmlns:a="http://schemas.openxmlformats.org/drawingml/2006/main">
            <a:pPr algn="l">
              <a:defRPr sz="3000" b="1" i="0">
                <a:solidFill>
                  <a:srgbClr val="FFFFFF"/>
                </a:solidFill>
              </a:defRPr>
            </a:pPr>
            <a:r>
              <a:rPr sz="3000" b="1" i="0">
                <a:solidFill>
                  <a:srgbClr val="FFFFFF"/>
                </a:solidFill>
              </a:rPr>
              <a:t>the production flow.</a:t>
            </a:r>
          </a:p>
        </p:txBody>
      </p:sp>
      <p:sp>
        <p:nvSpPr>
          <p:cNvPr id="3" name="">
            <a:extLst xmlns:a="http://schemas.openxmlformats.org/drawingml/2006/main">
              <a:ext uri="{FF2B5EF4-FFF2-40B4-BE49-F238E27FC236}">
                <a16:creationId xmlns:a16="http://schemas.microsoft.com/office/drawing/2014/main" id="{E2379997-D0B0-440C-BDA3-F8AAC3654CF4}"/>
              </a:ext>
            </a:extLst>
          </p:cNvPr>
          <p:cNvSpPr>
            <a:spLocks xmlns:a="http://schemas.openxmlformats.org/drawingml/2006/main" noGrp="1"/>
          </p:cNvSpPr>
          <p:nvPr/>
        </p:nvSpPr>
        <p:spPr>
          <a:xfrm xmlns:a="http://schemas.openxmlformats.org/drawingml/2006/main">
            <a:off x="723900" y="4371975"/>
            <a:ext cx="7734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The hardest part is earning trust.</a:t>
            </a:r>
          </a:p>
        </p:txBody>
      </p:sp>
      <p:sp>
        <p:nvSpPr>
          <p:cNvPr id="4" name="">
            <a:extLst xmlns:a="http://schemas.openxmlformats.org/drawingml/2006/main">
              <a:ext uri="{FF2B5EF4-FFF2-40B4-BE49-F238E27FC236}">
                <a16:creationId xmlns:a16="http://schemas.microsoft.com/office/drawing/2014/main" id="{D454F285-D6E4-4C44-B0B0-7CCEDC912140}"/>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xmlns:a="http://schemas.openxmlformats.org/drawingml/2006/main">
            <a:pPr algn="l">
              <a:defRPr sz="1875" b="0" i="0">
                <a:solidFill>
                  <a:srgbClr val="D5D8DA"/>
                </a:solidFill>
              </a:defRPr>
            </a:pPr>
            <a:r>
              <a:rPr sz="1875" b="0" i="0">
                <a:solidFill>
                  <a:srgbClr val="D5D8DA"/>
                </a:solidFill>
              </a:rPr>
              <a:t>Live on the floor. Listen, show evidence, refine.</a:t>
            </a:r>
          </a:p>
        </p:txBody>
      </p:sp>
      <p:sp>
        <p:nvSpPr>
          <p:cNvPr id="5" name="">
            <a:extLst xmlns:a="http://schemas.openxmlformats.org/drawingml/2006/main">
              <a:ext uri="{FF2B5EF4-FFF2-40B4-BE49-F238E27FC236}">
                <a16:creationId xmlns:a16="http://schemas.microsoft.com/office/drawing/2014/main" id="{9A25501B-5C46-45C4-B809-E769A3926639}"/>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7</a:t>
            </a:r>
          </a:p>
        </p:txBody>
      </p:sp>
    </p:spTree>
    <p:extLst>
      <p:ext uri="{BB962C8B-B14F-4D97-AF65-F5344CB8AC3E}">
        <p14:creationId xmlns:p14="http://schemas.microsoft.com/office/powerpoint/2010/main" val="99469438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B9929E-941A-4352-94E3-21AE8B4A1F44}"/>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Shotshell inspection</a:t>
            </a:r>
          </a:p>
        </p:txBody>
      </p:sp>
      <p:sp>
        <p:nvSpPr>
          <p:cNvPr id="2" name="">
            <a:extLst xmlns:a="http://schemas.openxmlformats.org/drawingml/2006/main">
              <a:ext uri="{FF2B5EF4-FFF2-40B4-BE49-F238E27FC236}">
                <a16:creationId xmlns:a16="http://schemas.microsoft.com/office/drawing/2014/main" id="{568EBA13-2702-4735-BD69-FF7AD1E9BAB1}"/>
              </a:ext>
            </a:extLst>
          </p:cNvPr>
          <p:cNvSpPr>
            <a:spLocks xmlns:a="http://schemas.openxmlformats.org/drawingml/2006/main" noGrp="1"/>
          </p:cNvSpPr>
          <p:nvPr/>
        </p:nvSpPr>
        <p:spPr>
          <a:xfrm xmlns:a="http://schemas.openxmlformats.org/drawingml/2006/main">
            <a:off x="723900" y="2676525"/>
            <a:ext cx="77343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xmlns:a="http://schemas.openxmlformats.org/drawingml/2006/main">
            <a:pPr algn="l">
              <a:defRPr sz="3000" b="1" i="0">
                <a:solidFill>
                  <a:srgbClr val="FFFFFF"/>
                </a:solidFill>
              </a:defRPr>
            </a:pPr>
            <a:r>
              <a:rPr sz="3000" b="1" i="0">
                <a:solidFill>
                  <a:srgbClr val="FFFFFF"/>
                </a:solidFill>
              </a:rPr>
              <a:t>A different product.</a:t>
            </a:r>
          </a:p>
          <a:p xmlns:a="http://schemas.openxmlformats.org/drawingml/2006/main">
            <a:pPr algn="l">
              <a:defRPr sz="3000" b="1" i="0">
                <a:solidFill>
                  <a:srgbClr val="FFFFFF"/>
                </a:solidFill>
              </a:defRPr>
            </a:pPr>
            <a:r>
              <a:rPr sz="3000" b="1" i="0">
                <a:solidFill>
                  <a:srgbClr val="FFFFFF"/>
                </a:solidFill>
              </a:rPr>
              <a:t>A new visual challenge.</a:t>
            </a:r>
          </a:p>
        </p:txBody>
      </p:sp>
      <p:sp>
        <p:nvSpPr>
          <p:cNvPr id="3" name="">
            <a:extLst xmlns:a="http://schemas.openxmlformats.org/drawingml/2006/main">
              <a:ext uri="{FF2B5EF4-FFF2-40B4-BE49-F238E27FC236}">
                <a16:creationId xmlns:a16="http://schemas.microsoft.com/office/drawing/2014/main" id="{962D2FF8-ED40-4461-B307-7A960585C20F}"/>
              </a:ext>
            </a:extLst>
          </p:cNvPr>
          <p:cNvSpPr>
            <a:spLocks xmlns:a="http://schemas.openxmlformats.org/drawingml/2006/main" noGrp="1"/>
          </p:cNvSpPr>
          <p:nvPr/>
        </p:nvSpPr>
        <p:spPr>
          <a:xfrm xmlns:a="http://schemas.openxmlformats.org/drawingml/2006/main">
            <a:off x="723900" y="4371975"/>
            <a:ext cx="7734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Adapt the view. Fit the result to the line.</a:t>
            </a:r>
          </a:p>
        </p:txBody>
      </p:sp>
      <p:sp>
        <p:nvSpPr>
          <p:cNvPr id="4" name="">
            <a:extLst xmlns:a="http://schemas.openxmlformats.org/drawingml/2006/main">
              <a:ext uri="{FF2B5EF4-FFF2-40B4-BE49-F238E27FC236}">
                <a16:creationId xmlns:a16="http://schemas.microsoft.com/office/drawing/2014/main" id="{2E5668E9-61AA-4359-BB77-949880F817AE}"/>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xmlns:a="http://schemas.openxmlformats.org/drawingml/2006/main">
            <a:pPr algn="l">
              <a:defRPr sz="1875" b="0" i="0">
                <a:solidFill>
                  <a:srgbClr val="D5D8DA"/>
                </a:solidFill>
              </a:defRPr>
            </a:pPr>
            <a:r>
              <a:rPr sz="1875" b="0" i="0">
                <a:solidFill>
                  <a:srgbClr val="D5D8DA"/>
                </a:solidFill>
              </a:rPr>
              <a:t>Live on the floor. Tailored to a different product.</a:t>
            </a:r>
          </a:p>
        </p:txBody>
      </p:sp>
      <p:sp>
        <p:nvSpPr>
          <p:cNvPr id="5" name="">
            <a:extLst xmlns:a="http://schemas.openxmlformats.org/drawingml/2006/main">
              <a:ext uri="{FF2B5EF4-FFF2-40B4-BE49-F238E27FC236}">
                <a16:creationId xmlns:a16="http://schemas.microsoft.com/office/drawing/2014/main" id="{BF02ACA2-F7EB-4C35-8D8C-83905A212148}"/>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8</a:t>
            </a:r>
          </a:p>
        </p:txBody>
      </p:sp>
    </p:spTree>
    <p:extLst>
      <p:ext uri="{BB962C8B-B14F-4D97-AF65-F5344CB8AC3E}">
        <p14:creationId xmlns:p14="http://schemas.microsoft.com/office/powerpoint/2010/main" val="195599102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A15C80C-203E-40F7-8212-EC5B148D63AA}"/>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Public sentiment</a:t>
            </a:r>
          </a:p>
        </p:txBody>
      </p:sp>
      <p:sp>
        <p:nvSpPr>
          <p:cNvPr id="2" name="">
            <a:extLst xmlns:a="http://schemas.openxmlformats.org/drawingml/2006/main">
              <a:ext uri="{FF2B5EF4-FFF2-40B4-BE49-F238E27FC236}">
                <a16:creationId xmlns:a16="http://schemas.microsoft.com/office/drawing/2014/main" id="{71F5E8C9-0B99-47C7-AC32-66FEBE80E7DA}"/>
              </a:ext>
            </a:extLst>
          </p:cNvPr>
          <p:cNvSpPr>
            <a:spLocks xmlns:a="http://schemas.openxmlformats.org/drawingml/2006/main" noGrp="1"/>
          </p:cNvSpPr>
          <p:nvPr/>
        </p:nvSpPr>
        <p:spPr>
          <a:xfrm xmlns:a="http://schemas.openxmlformats.org/drawingml/2006/main">
            <a:off x="723900" y="2676525"/>
            <a:ext cx="77343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xmlns:a="http://schemas.openxmlformats.org/drawingml/2006/main">
            <a:pPr algn="l">
              <a:defRPr sz="3150" b="1" i="0">
                <a:solidFill>
                  <a:srgbClr val="FFFFFF"/>
                </a:solidFill>
              </a:defRPr>
            </a:pPr>
            <a:r>
              <a:rPr sz="3150" b="1" i="0">
                <a:solidFill>
                  <a:srgbClr val="FFFFFF"/>
                </a:solidFill>
              </a:rPr>
              <a:t>Hear the market</a:t>
            </a:r>
          </a:p>
          <a:p xmlns:a="http://schemas.openxmlformats.org/drawingml/2006/main">
            <a:pPr algn="l">
              <a:defRPr sz="3150" b="1" i="0">
                <a:solidFill>
                  <a:srgbClr val="FFFFFF"/>
                </a:solidFill>
              </a:defRPr>
            </a:pPr>
            <a:r>
              <a:rPr sz="3150" b="1" i="0">
                <a:solidFill>
                  <a:srgbClr val="FFFFFF"/>
                </a:solidFill>
              </a:rPr>
              <a:t>in its own words.</a:t>
            </a:r>
          </a:p>
        </p:txBody>
      </p:sp>
      <p:sp>
        <p:nvSpPr>
          <p:cNvPr id="3" name="">
            <a:extLst xmlns:a="http://schemas.openxmlformats.org/drawingml/2006/main">
              <a:ext uri="{FF2B5EF4-FFF2-40B4-BE49-F238E27FC236}">
                <a16:creationId xmlns:a16="http://schemas.microsoft.com/office/drawing/2014/main" id="{6BBEBB02-563D-4498-93E6-658D69AB738A}"/>
              </a:ext>
            </a:extLst>
          </p:cNvPr>
          <p:cNvSpPr>
            <a:spLocks xmlns:a="http://schemas.openxmlformats.org/drawingml/2006/main" noGrp="1"/>
          </p:cNvSpPr>
          <p:nvPr/>
        </p:nvSpPr>
        <p:spPr>
          <a:xfrm xmlns:a="http://schemas.openxmlformats.org/drawingml/2006/main">
            <a:off x="723900" y="4371975"/>
            <a:ext cx="7734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Find themes. Read the original sources.</a:t>
            </a:r>
          </a:p>
        </p:txBody>
      </p:sp>
      <p:sp>
        <p:nvSpPr>
          <p:cNvPr id="4" name="">
            <a:extLst xmlns:a="http://schemas.openxmlformats.org/drawingml/2006/main">
              <a:ext uri="{FF2B5EF4-FFF2-40B4-BE49-F238E27FC236}">
                <a16:creationId xmlns:a16="http://schemas.microsoft.com/office/drawing/2014/main" id="{C5A5BDA2-0D55-48A0-A674-76A219CF9A99}"/>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xmlns:a="http://schemas.openxmlformats.org/drawingml/2006/main">
            <a:pPr algn="l">
              <a:defRPr sz="1950" b="0" i="0">
                <a:solidFill>
                  <a:srgbClr val="D5D8DA"/>
                </a:solidFill>
              </a:defRPr>
            </a:pPr>
            <a:r>
              <a:rPr sz="1950" b="0" i="0">
                <a:solidFill>
                  <a:srgbClr val="D5D8DA"/>
                </a:solidFill>
              </a:rPr>
              <a:t>For product and business decisions.</a:t>
            </a:r>
          </a:p>
        </p:txBody>
      </p:sp>
      <p:sp>
        <p:nvSpPr>
          <p:cNvPr id="5" name="">
            <a:extLst xmlns:a="http://schemas.openxmlformats.org/drawingml/2006/main">
              <a:ext uri="{FF2B5EF4-FFF2-40B4-BE49-F238E27FC236}">
                <a16:creationId xmlns:a16="http://schemas.microsoft.com/office/drawing/2014/main" id="{87A350F8-8E5E-434E-AF17-D17239863896}"/>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9</a:t>
            </a:r>
          </a:p>
        </p:txBody>
      </p:sp>
    </p:spTree>
    <p:extLst>
      <p:ext uri="{BB962C8B-B14F-4D97-AF65-F5344CB8AC3E}">
        <p14:creationId xmlns:p14="http://schemas.microsoft.com/office/powerpoint/2010/main" val="102784611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1156EA-8987-49A4-8E46-F402BF5C6DF7}"/>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Remi</a:t>
            </a:r>
          </a:p>
        </p:txBody>
      </p:sp>
      <p:sp>
        <p:nvSpPr>
          <p:cNvPr id="2" name="">
            <a:extLst xmlns:a="http://schemas.openxmlformats.org/drawingml/2006/main">
              <a:ext uri="{FF2B5EF4-FFF2-40B4-BE49-F238E27FC236}">
                <a16:creationId xmlns:a16="http://schemas.microsoft.com/office/drawing/2014/main" id="{86696325-598A-4F15-8C00-2733D0A384FD}"/>
              </a:ext>
            </a:extLst>
          </p:cNvPr>
          <p:cNvSpPr>
            <a:spLocks xmlns:a="http://schemas.openxmlformats.org/drawingml/2006/main" noGrp="1"/>
          </p:cNvSpPr>
          <p:nvPr/>
        </p:nvSpPr>
        <p:spPr>
          <a:xfrm xmlns:a="http://schemas.openxmlformats.org/drawingml/2006/main">
            <a:off x="723900" y="2676525"/>
            <a:ext cx="77343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xmlns:a="http://schemas.openxmlformats.org/drawingml/2006/main">
            <a:pPr algn="l">
              <a:defRPr sz="3075" b="1" i="0">
                <a:solidFill>
                  <a:srgbClr val="FFFFFF"/>
                </a:solidFill>
              </a:defRPr>
            </a:pPr>
            <a:r>
              <a:rPr sz="3075" b="1" i="0">
                <a:solidFill>
                  <a:srgbClr val="FFFFFF"/>
                </a:solidFill>
              </a:rPr>
              <a:t>Engineering knowledge,</a:t>
            </a:r>
          </a:p>
          <a:p xmlns:a="http://schemas.openxmlformats.org/drawingml/2006/main">
            <a:pPr algn="l">
              <a:defRPr sz="3075" b="1" i="0">
                <a:solidFill>
                  <a:srgbClr val="FFFFFF"/>
                </a:solidFill>
              </a:defRPr>
            </a:pPr>
            <a:r>
              <a:rPr sz="3075" b="1" i="0">
                <a:solidFill>
                  <a:srgbClr val="FFFFFF"/>
                </a:solidFill>
              </a:rPr>
              <a:t>close to the work.</a:t>
            </a:r>
          </a:p>
        </p:txBody>
      </p:sp>
      <p:sp>
        <p:nvSpPr>
          <p:cNvPr id="3" name="">
            <a:extLst xmlns:a="http://schemas.openxmlformats.org/drawingml/2006/main">
              <a:ext uri="{FF2B5EF4-FFF2-40B4-BE49-F238E27FC236}">
                <a16:creationId xmlns:a16="http://schemas.microsoft.com/office/drawing/2014/main" id="{0318606F-670A-4B99-B01B-F0EEADE2C436}"/>
              </a:ext>
            </a:extLst>
          </p:cNvPr>
          <p:cNvSpPr>
            <a:spLocks xmlns:a="http://schemas.openxmlformats.org/drawingml/2006/main" noGrp="1"/>
          </p:cNvSpPr>
          <p:nvPr/>
        </p:nvSpPr>
        <p:spPr>
          <a:xfrm xmlns:a="http://schemas.openxmlformats.org/drawingml/2006/main">
            <a:off x="723900" y="4371975"/>
            <a:ext cx="7734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Ask. Find project knowledge. Verify.</a:t>
            </a:r>
          </a:p>
        </p:txBody>
      </p:sp>
      <p:sp>
        <p:nvSpPr>
          <p:cNvPr id="4" name="">
            <a:extLst xmlns:a="http://schemas.openxmlformats.org/drawingml/2006/main">
              <a:ext uri="{FF2B5EF4-FFF2-40B4-BE49-F238E27FC236}">
                <a16:creationId xmlns:a16="http://schemas.microsoft.com/office/drawing/2014/main" id="{1804FC08-3AF6-454F-AA56-391A3E4FB909}"/>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xmlns:a="http://schemas.openxmlformats.org/drawingml/2006/main">
            <a:pPr algn="l">
              <a:defRPr sz="1875" b="0" i="0">
                <a:solidFill>
                  <a:srgbClr val="D5D8DA"/>
                </a:solidFill>
              </a:defRPr>
            </a:pPr>
            <a:r>
              <a:rPr sz="1875" b="0" i="0">
                <a:solidFill>
                  <a:srgbClr val="D5D8DA"/>
                </a:solidFill>
              </a:rPr>
              <a:t>Local model and scoped tools for engineering.</a:t>
            </a:r>
          </a:p>
        </p:txBody>
      </p:sp>
      <p:sp>
        <p:nvSpPr>
          <p:cNvPr id="5" name="">
            <a:extLst xmlns:a="http://schemas.openxmlformats.org/drawingml/2006/main">
              <a:ext uri="{FF2B5EF4-FFF2-40B4-BE49-F238E27FC236}">
                <a16:creationId xmlns:a16="http://schemas.microsoft.com/office/drawing/2014/main" id="{DCF0F68B-4A7D-4791-A107-E1828180AAF5}"/>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10</a:t>
            </a:r>
          </a:p>
        </p:txBody>
      </p:sp>
    </p:spTree>
    <p:extLst>
      <p:ext uri="{BB962C8B-B14F-4D97-AF65-F5344CB8AC3E}">
        <p14:creationId xmlns:p14="http://schemas.microsoft.com/office/powerpoint/2010/main" val="49708228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A85AD2-4C6D-41EF-BDC8-64159D097DF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Why we love this work</a:t>
            </a:r>
          </a:p>
        </p:txBody>
      </p:sp>
      <p:sp>
        <p:nvSpPr>
          <p:cNvPr id="2" name="">
            <a:extLst xmlns:a="http://schemas.openxmlformats.org/drawingml/2006/main">
              <a:ext uri="{FF2B5EF4-FFF2-40B4-BE49-F238E27FC236}">
                <a16:creationId xmlns:a16="http://schemas.microsoft.com/office/drawing/2014/main" id="{F977F1D9-1B3B-4F10-BB61-ACD7FD77573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11</a:t>
            </a:r>
          </a:p>
        </p:txBody>
      </p:sp>
      <p:sp>
        <p:nvSpPr>
          <p:cNvPr id="3" name="">
            <a:extLst xmlns:a="http://schemas.openxmlformats.org/drawingml/2006/main">
              <a:ext uri="{FF2B5EF4-FFF2-40B4-BE49-F238E27FC236}">
                <a16:creationId xmlns:a16="http://schemas.microsoft.com/office/drawing/2014/main" id="{1D6CBC50-C279-4861-87F5-D957614B2EA6}"/>
              </a:ext>
            </a:extLst>
          </p:cNvPr>
          <p:cNvSpPr>
            <a:spLocks xmlns:a="http://schemas.openxmlformats.org/drawingml/2006/main" noGrp="1"/>
          </p:cNvSpPr>
          <p:nvPr/>
        </p:nvSpPr>
        <p:spPr>
          <a:xfrm xmlns:a="http://schemas.openxmlformats.org/drawingml/2006/main">
            <a:off x="72390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VARIETY</a:t>
            </a:r>
          </a:p>
        </p:txBody>
      </p:sp>
      <p:sp>
        <p:nvSpPr>
          <p:cNvPr id="4" name="">
            <a:extLst xmlns:a="http://schemas.openxmlformats.org/drawingml/2006/main">
              <a:ext uri="{FF2B5EF4-FFF2-40B4-BE49-F238E27FC236}">
                <a16:creationId xmlns:a16="http://schemas.microsoft.com/office/drawing/2014/main" id="{F4E9C001-20D1-4DD6-BBCD-4FCD600D1E5B}"/>
              </a:ext>
            </a:extLst>
          </p:cNvPr>
          <p:cNvSpPr>
            <a:spLocks xmlns:a="http://schemas.openxmlformats.org/drawingml/2006/main" noGrp="1"/>
          </p:cNvSpPr>
          <p:nvPr/>
        </p:nvSpPr>
        <p:spPr>
          <a:xfrm xmlns:a="http://schemas.openxmlformats.org/drawingml/2006/main">
            <a:off x="72390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xmlns:a="http://schemas.openxmlformats.org/drawingml/2006/main">
            <a:pPr algn="l">
              <a:buNone/>
              <a:defRPr sz="1800" b="0" i="0">
                <a:solidFill>
                  <a:srgbClr val="FFFFFF"/>
                </a:solidFill>
              </a:defRPr>
            </a:pPr>
            <a:r>
              <a:rPr sz="1800" b="0" i="0">
                <a:solidFill>
                  <a:srgbClr val="FFFFFF"/>
                </a:solidFill>
              </a:rPr>
              <a:t>AI, software, machines</a:t>
            </a:r>
          </a:p>
        </p:txBody>
      </p:sp>
      <p:sp>
        <p:nvSpPr>
          <p:cNvPr id="5" name="">
            <a:extLst xmlns:a="http://schemas.openxmlformats.org/drawingml/2006/main">
              <a:ext uri="{FF2B5EF4-FFF2-40B4-BE49-F238E27FC236}">
                <a16:creationId xmlns:a16="http://schemas.microsoft.com/office/drawing/2014/main" id="{84EAA43C-6C73-4ACF-881D-7CB0D03E84AE}"/>
              </a:ext>
            </a:extLst>
          </p:cNvPr>
          <p:cNvSpPr>
            <a:spLocks xmlns:a="http://schemas.openxmlformats.org/drawingml/2006/main" noGrp="1"/>
          </p:cNvSpPr>
          <p:nvPr/>
        </p:nvSpPr>
        <p:spPr>
          <a:xfrm xmlns:a="http://schemas.openxmlformats.org/drawingml/2006/main">
            <a:off x="485775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FREEDOM</a:t>
            </a:r>
          </a:p>
        </p:txBody>
      </p:sp>
      <p:sp>
        <p:nvSpPr>
          <p:cNvPr id="6" name="">
            <a:extLst xmlns:a="http://schemas.openxmlformats.org/drawingml/2006/main">
              <a:ext uri="{FF2B5EF4-FFF2-40B4-BE49-F238E27FC236}">
                <a16:creationId xmlns:a16="http://schemas.microsoft.com/office/drawing/2014/main" id="{78523446-C2A7-486D-A964-356B4DB41418}"/>
              </a:ext>
            </a:extLst>
          </p:cNvPr>
          <p:cNvSpPr>
            <a:spLocks xmlns:a="http://schemas.openxmlformats.org/drawingml/2006/main" noGrp="1"/>
          </p:cNvSpPr>
          <p:nvPr/>
        </p:nvSpPr>
        <p:spPr>
          <a:xfrm xmlns:a="http://schemas.openxmlformats.org/drawingml/2006/main">
            <a:off x="485775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xmlns:a="http://schemas.openxmlformats.org/drawingml/2006/main">
            <a:pPr algn="l">
              <a:buNone/>
              <a:defRPr sz="1800" b="0" i="0">
                <a:solidFill>
                  <a:srgbClr val="FFFFFF"/>
                </a:solidFill>
              </a:defRPr>
            </a:pPr>
            <a:r>
              <a:rPr sz="1800" b="0" i="0">
                <a:solidFill>
                  <a:srgbClr val="FFFFFF"/>
                </a:solidFill>
              </a:rPr>
              <a:t>Room to explore ideas</a:t>
            </a:r>
          </a:p>
        </p:txBody>
      </p:sp>
      <p:sp>
        <p:nvSpPr>
          <p:cNvPr id="7" name="">
            <a:extLst xmlns:a="http://schemas.openxmlformats.org/drawingml/2006/main">
              <a:ext uri="{FF2B5EF4-FFF2-40B4-BE49-F238E27FC236}">
                <a16:creationId xmlns:a16="http://schemas.microsoft.com/office/drawing/2014/main" id="{29E64668-D269-420C-98DD-9FAD60EEE8CC}"/>
              </a:ext>
            </a:extLst>
          </p:cNvPr>
          <p:cNvSpPr>
            <a:spLocks xmlns:a="http://schemas.openxmlformats.org/drawingml/2006/main" noGrp="1"/>
          </p:cNvSpPr>
          <p:nvPr/>
        </p:nvSpPr>
        <p:spPr>
          <a:xfrm xmlns:a="http://schemas.openxmlformats.org/drawingml/2006/main">
            <a:off x="72390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OWNERSHIP</a:t>
            </a:r>
          </a:p>
        </p:txBody>
      </p:sp>
      <p:sp>
        <p:nvSpPr>
          <p:cNvPr id="8" name="">
            <a:extLst xmlns:a="http://schemas.openxmlformats.org/drawingml/2006/main">
              <a:ext uri="{FF2B5EF4-FFF2-40B4-BE49-F238E27FC236}">
                <a16:creationId xmlns:a16="http://schemas.microsoft.com/office/drawing/2014/main" id="{5BE92EAC-3DBA-4E31-9DE2-09E6E99F4B15}"/>
              </a:ext>
            </a:extLst>
          </p:cNvPr>
          <p:cNvSpPr>
            <a:spLocks xmlns:a="http://schemas.openxmlformats.org/drawingml/2006/main" noGrp="1"/>
          </p:cNvSpPr>
          <p:nvPr/>
        </p:nvSpPr>
        <p:spPr>
          <a:xfrm xmlns:a="http://schemas.openxmlformats.org/drawingml/2006/main">
            <a:off x="72390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xmlns:a="http://schemas.openxmlformats.org/drawingml/2006/main">
            <a:pPr algn="l">
              <a:buNone/>
              <a:defRPr sz="1800" b="0" i="0">
                <a:solidFill>
                  <a:srgbClr val="FFFFFF"/>
                </a:solidFill>
              </a:defRPr>
            </a:pPr>
            <a:r>
              <a:rPr sz="1800" b="0" i="0">
                <a:solidFill>
                  <a:srgbClr val="FFFFFF"/>
                </a:solidFill>
              </a:rPr>
              <a:t>Carry ideas into use</a:t>
            </a:r>
          </a:p>
        </p:txBody>
      </p:sp>
      <p:sp>
        <p:nvSpPr>
          <p:cNvPr id="9" name="">
            <a:extLst xmlns:a="http://schemas.openxmlformats.org/drawingml/2006/main">
              <a:ext uri="{FF2B5EF4-FFF2-40B4-BE49-F238E27FC236}">
                <a16:creationId xmlns:a16="http://schemas.microsoft.com/office/drawing/2014/main" id="{529696B3-7E61-48F8-8669-C7D99D87BC1D}"/>
              </a:ext>
            </a:extLst>
          </p:cNvPr>
          <p:cNvSpPr>
            <a:spLocks xmlns:a="http://schemas.openxmlformats.org/drawingml/2006/main" noGrp="1"/>
          </p:cNvSpPr>
          <p:nvPr/>
        </p:nvSpPr>
        <p:spPr>
          <a:xfrm xmlns:a="http://schemas.openxmlformats.org/drawingml/2006/main">
            <a:off x="485775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GROWTH</a:t>
            </a:r>
          </a:p>
        </p:txBody>
      </p:sp>
      <p:sp>
        <p:nvSpPr>
          <p:cNvPr id="10" name="">
            <a:extLst xmlns:a="http://schemas.openxmlformats.org/drawingml/2006/main">
              <a:ext uri="{FF2B5EF4-FFF2-40B4-BE49-F238E27FC236}">
                <a16:creationId xmlns:a16="http://schemas.microsoft.com/office/drawing/2014/main" id="{FBA41055-B537-4BAD-9716-3374AA39CB9D}"/>
              </a:ext>
            </a:extLst>
          </p:cNvPr>
          <p:cNvSpPr>
            <a:spLocks xmlns:a="http://schemas.openxmlformats.org/drawingml/2006/main" noGrp="1"/>
          </p:cNvSpPr>
          <p:nvPr/>
        </p:nvSpPr>
        <p:spPr>
          <a:xfrm xmlns:a="http://schemas.openxmlformats.org/drawingml/2006/main">
            <a:off x="485775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xmlns:a="http://schemas.openxmlformats.org/drawingml/2006/main">
            <a:pPr algn="l">
              <a:buNone/>
              <a:defRPr sz="1800" b="0" i="0">
                <a:solidFill>
                  <a:srgbClr val="FFFFFF"/>
                </a:solidFill>
              </a:defRPr>
            </a:pPr>
            <a:r>
              <a:rPr sz="1800" b="0" i="0">
                <a:solidFill>
                  <a:srgbClr val="FFFFFF"/>
                </a:solidFill>
              </a:rPr>
              <a:t>Unexpected opportunities</a:t>
            </a:r>
          </a:p>
        </p:txBody>
      </p:sp>
    </p:spTree>
    <p:extLst>
      <p:ext uri="{BB962C8B-B14F-4D97-AF65-F5344CB8AC3E}">
        <p14:creationId xmlns:p14="http://schemas.microsoft.com/office/powerpoint/2010/main" val="63961946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F53755-D18B-494F-91B3-4A8CF82CB40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Live demonstration</a:t>
            </a:r>
          </a:p>
        </p:txBody>
      </p:sp>
      <p:sp>
        <p:nvSpPr>
          <p:cNvPr id="2" name="">
            <a:extLst xmlns:a="http://schemas.openxmlformats.org/drawingml/2006/main">
              <a:ext uri="{FF2B5EF4-FFF2-40B4-BE49-F238E27FC236}">
                <a16:creationId xmlns:a16="http://schemas.microsoft.com/office/drawing/2014/main" id="{53B10451-B5D7-47AF-BD80-1C675D94DD64}"/>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12</a:t>
            </a:r>
          </a:p>
        </p:txBody>
      </p:sp>
      <p:sp>
        <p:nvSpPr>
          <p:cNvPr id="3" name="">
            <a:extLst xmlns:a="http://schemas.openxmlformats.org/drawingml/2006/main">
              <a:ext uri="{FF2B5EF4-FFF2-40B4-BE49-F238E27FC236}">
                <a16:creationId xmlns:a16="http://schemas.microsoft.com/office/drawing/2014/main" id="{6C991B4C-C3C7-4221-B8C0-A3450B46C642}"/>
              </a:ext>
            </a:extLst>
          </p:cNvPr>
          <p:cNvSpPr>
            <a:spLocks xmlns:a="http://schemas.openxmlformats.org/drawingml/2006/main" noGrp="1"/>
          </p:cNvSpPr>
          <p:nvPr/>
        </p:nvSpPr>
        <p:spPr>
          <a:xfrm xmlns:a="http://schemas.openxmlformats.org/drawingml/2006/main">
            <a:off x="723900" y="3067050"/>
            <a:ext cx="7810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xmlns:a="http://schemas.openxmlformats.org/drawingml/2006/main">
            <a:pPr algn="l">
              <a:buNone/>
              <a:defRPr sz="3600" b="1" i="0">
                <a:solidFill>
                  <a:srgbClr val="FFFFFF"/>
                </a:solidFill>
              </a:defRPr>
            </a:pPr>
            <a:r>
              <a:rPr sz="3600" b="1" i="0">
                <a:solidFill>
                  <a:srgbClr val="FFFFFF"/>
                </a:solidFill>
              </a:rPr>
              <a:t>CAMERA  →  AI  →  ACTION</a:t>
            </a:r>
          </a:p>
        </p:txBody>
      </p:sp>
      <p:sp>
        <p:nvSpPr>
          <p:cNvPr id="4" name="">
            <a:extLst xmlns:a="http://schemas.openxmlformats.org/drawingml/2006/main">
              <a:ext uri="{FF2B5EF4-FFF2-40B4-BE49-F238E27FC236}">
                <a16:creationId xmlns:a16="http://schemas.microsoft.com/office/drawing/2014/main" id="{6D1BD60B-FA35-47C3-B6E1-5A7A523CA7B8}"/>
              </a:ext>
            </a:extLst>
          </p:cNvPr>
          <p:cNvSpPr>
            <a:spLocks xmlns:a="http://schemas.openxmlformats.org/drawingml/2006/main" noGrp="1"/>
          </p:cNvSpPr>
          <p:nvPr/>
        </p:nvSpPr>
        <p:spPr>
          <a:xfrm xmlns:a="http://schemas.openxmlformats.org/drawingml/2006/main">
            <a:off x="733425" y="4267200"/>
            <a:ext cx="7677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xmlns:a="http://schemas.openxmlformats.org/drawingml/2006/main">
            <a:pPr algn="l">
              <a:buNone/>
              <a:defRPr sz="2250" b="0" i="0">
                <a:solidFill>
                  <a:srgbClr val="BEA06A"/>
                </a:solidFill>
              </a:defRPr>
            </a:pPr>
            <a:r>
              <a:rPr sz="2250" b="0" i="0">
                <a:solidFill>
                  <a:srgbClr val="BEA06A"/>
                </a:solidFill>
              </a:rPr>
              <a:t>Gatorade bottles  ·  on-screen sorting</a:t>
            </a:r>
          </a:p>
        </p:txBody>
      </p:sp>
    </p:spTree>
    <p:extLst>
      <p:ext uri="{BB962C8B-B14F-4D97-AF65-F5344CB8AC3E}">
        <p14:creationId xmlns:p14="http://schemas.microsoft.com/office/powerpoint/2010/main" val="38940956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F7533C-A063-4877-8F2C-12238601AFB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The hard problems</a:t>
            </a:r>
          </a:p>
        </p:txBody>
      </p:sp>
      <p:sp>
        <p:nvSpPr>
          <p:cNvPr id="2" name="">
            <a:extLst xmlns:a="http://schemas.openxmlformats.org/drawingml/2006/main">
              <a:ext uri="{FF2B5EF4-FFF2-40B4-BE49-F238E27FC236}">
                <a16:creationId xmlns:a16="http://schemas.microsoft.com/office/drawing/2014/main" id="{C10B698F-57F2-43CA-9802-0D85442CA123}"/>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13</a:t>
            </a:r>
          </a:p>
        </p:txBody>
      </p:sp>
      <p:sp>
        <p:nvSpPr>
          <p:cNvPr id="3" name="">
            <a:extLst xmlns:a="http://schemas.openxmlformats.org/drawingml/2006/main">
              <a:ext uri="{FF2B5EF4-FFF2-40B4-BE49-F238E27FC236}">
                <a16:creationId xmlns:a16="http://schemas.microsoft.com/office/drawing/2014/main" id="{F0958AEF-88D8-43CA-BDE1-77631A11F538}"/>
              </a:ext>
            </a:extLst>
          </p:cNvPr>
          <p:cNvSpPr>
            <a:spLocks xmlns:a="http://schemas.openxmlformats.org/drawingml/2006/main" noGrp="1"/>
          </p:cNvSpPr>
          <p:nvPr/>
        </p:nvSpPr>
        <p:spPr>
          <a:xfrm xmlns:a="http://schemas.openxmlformats.org/drawingml/2006/main">
            <a:off x="723900" y="2600325"/>
            <a:ext cx="77533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xmlns:a="http://schemas.openxmlformats.org/drawingml/2006/main">
            <a:pPr algn="l">
              <a:buNone/>
              <a:defRPr sz="2100" b="0" i="0">
                <a:solidFill>
                  <a:srgbClr val="FFFFFF"/>
                </a:solidFill>
              </a:defRPr>
            </a:pPr>
            <a:r>
              <a:rPr sz="2100" b="0" i="0">
                <a:solidFill>
                  <a:srgbClr val="FFFFFF"/>
                </a:solidFill>
              </a:rPr>
              <a:t>The floor changes. The system must keep working.</a:t>
            </a:r>
          </a:p>
        </p:txBody>
      </p:sp>
      <p:sp>
        <p:nvSpPr>
          <p:cNvPr id="4" name="">
            <a:extLst xmlns:a="http://schemas.openxmlformats.org/drawingml/2006/main">
              <a:ext uri="{FF2B5EF4-FFF2-40B4-BE49-F238E27FC236}">
                <a16:creationId xmlns:a16="http://schemas.microsoft.com/office/drawing/2014/main" id="{973D8A1D-4FB8-41E9-80F1-1E41891BE0A3}"/>
              </a:ext>
            </a:extLst>
          </p:cNvPr>
          <p:cNvSpPr>
            <a:spLocks xmlns:a="http://schemas.openxmlformats.org/drawingml/2006/main" noGrp="1"/>
          </p:cNvSpPr>
          <p:nvPr/>
        </p:nvSpPr>
        <p:spPr>
          <a:xfrm xmlns:a="http://schemas.openxmlformats.org/drawingml/2006/main">
            <a:off x="72390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VARIATION</a:t>
            </a:r>
          </a:p>
        </p:txBody>
      </p:sp>
      <p:sp>
        <p:nvSpPr>
          <p:cNvPr id="5" name="">
            <a:extLst xmlns:a="http://schemas.openxmlformats.org/drawingml/2006/main">
              <a:ext uri="{FF2B5EF4-FFF2-40B4-BE49-F238E27FC236}">
                <a16:creationId xmlns:a16="http://schemas.microsoft.com/office/drawing/2014/main" id="{CB957D22-3EC9-4AC0-ADE8-21CB7AB27045}"/>
              </a:ext>
            </a:extLst>
          </p:cNvPr>
          <p:cNvSpPr>
            <a:spLocks xmlns:a="http://schemas.openxmlformats.org/drawingml/2006/main" noGrp="1"/>
          </p:cNvSpPr>
          <p:nvPr/>
        </p:nvSpPr>
        <p:spPr>
          <a:xfrm xmlns:a="http://schemas.openxmlformats.org/drawingml/2006/main">
            <a:off x="72390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xmlns:a="http://schemas.openxmlformats.org/drawingml/2006/main">
            <a:pPr algn="l">
              <a:buNone/>
              <a:defRPr sz="1725" b="0" i="0">
                <a:solidFill>
                  <a:srgbClr val="FFFFFF"/>
                </a:solidFill>
              </a:defRPr>
            </a:pPr>
            <a:r>
              <a:rPr sz="1725" b="0" i="0">
                <a:solidFill>
                  <a:srgbClr val="FFFFFF"/>
                </a:solidFill>
              </a:rPr>
              <a:t>Conditions change</a:t>
            </a:r>
          </a:p>
        </p:txBody>
      </p:sp>
      <p:sp>
        <p:nvSpPr>
          <p:cNvPr id="6" name="">
            <a:extLst xmlns:a="http://schemas.openxmlformats.org/drawingml/2006/main">
              <a:ext uri="{FF2B5EF4-FFF2-40B4-BE49-F238E27FC236}">
                <a16:creationId xmlns:a16="http://schemas.microsoft.com/office/drawing/2014/main" id="{0ACA5BE1-2F32-48F9-912B-DA8A3F95F80E}"/>
              </a:ext>
            </a:extLst>
          </p:cNvPr>
          <p:cNvSpPr>
            <a:spLocks xmlns:a="http://schemas.openxmlformats.org/drawingml/2006/main" noGrp="1"/>
          </p:cNvSpPr>
          <p:nvPr/>
        </p:nvSpPr>
        <p:spPr>
          <a:xfrm xmlns:a="http://schemas.openxmlformats.org/drawingml/2006/main">
            <a:off x="3419475"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TIMING</a:t>
            </a:r>
          </a:p>
        </p:txBody>
      </p:sp>
      <p:sp>
        <p:nvSpPr>
          <p:cNvPr id="7" name="">
            <a:extLst xmlns:a="http://schemas.openxmlformats.org/drawingml/2006/main">
              <a:ext uri="{FF2B5EF4-FFF2-40B4-BE49-F238E27FC236}">
                <a16:creationId xmlns:a16="http://schemas.microsoft.com/office/drawing/2014/main" id="{DF3BA347-B4A6-4CC0-8DF7-EAFC2872E248}"/>
              </a:ext>
            </a:extLst>
          </p:cNvPr>
          <p:cNvSpPr>
            <a:spLocks xmlns:a="http://schemas.openxmlformats.org/drawingml/2006/main" noGrp="1"/>
          </p:cNvSpPr>
          <p:nvPr/>
        </p:nvSpPr>
        <p:spPr>
          <a:xfrm xmlns:a="http://schemas.openxmlformats.org/drawingml/2006/main">
            <a:off x="3419475"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xmlns:a="http://schemas.openxmlformats.org/drawingml/2006/main">
            <a:pPr algn="l">
              <a:buNone/>
              <a:defRPr sz="1725" b="0" i="0">
                <a:solidFill>
                  <a:srgbClr val="FFFFFF"/>
                </a:solidFill>
              </a:defRPr>
            </a:pPr>
            <a:r>
              <a:rPr sz="1725" b="0" i="0">
                <a:solidFill>
                  <a:srgbClr val="FFFFFF"/>
                </a:solidFill>
              </a:rPr>
              <a:t>Decisions at pace</a:t>
            </a:r>
          </a:p>
        </p:txBody>
      </p:sp>
      <p:sp>
        <p:nvSpPr>
          <p:cNvPr id="8" name="">
            <a:extLst xmlns:a="http://schemas.openxmlformats.org/drawingml/2006/main">
              <a:ext uri="{FF2B5EF4-FFF2-40B4-BE49-F238E27FC236}">
                <a16:creationId xmlns:a16="http://schemas.microsoft.com/office/drawing/2014/main" id="{6EBE70AE-F7A4-4D9A-8BBE-8960AD146CEF}"/>
              </a:ext>
            </a:extLst>
          </p:cNvPr>
          <p:cNvSpPr>
            <a:spLocks xmlns:a="http://schemas.openxmlformats.org/drawingml/2006/main" noGrp="1"/>
          </p:cNvSpPr>
          <p:nvPr/>
        </p:nvSpPr>
        <p:spPr>
          <a:xfrm xmlns:a="http://schemas.openxmlformats.org/drawingml/2006/main">
            <a:off x="622935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RELIABILITY</a:t>
            </a:r>
          </a:p>
        </p:txBody>
      </p:sp>
      <p:sp>
        <p:nvSpPr>
          <p:cNvPr id="9" name="">
            <a:extLst xmlns:a="http://schemas.openxmlformats.org/drawingml/2006/main">
              <a:ext uri="{FF2B5EF4-FFF2-40B4-BE49-F238E27FC236}">
                <a16:creationId xmlns:a16="http://schemas.microsoft.com/office/drawing/2014/main" id="{86C1E48F-1B7B-450A-B6BD-8D16F79DE8A6}"/>
              </a:ext>
            </a:extLst>
          </p:cNvPr>
          <p:cNvSpPr>
            <a:spLocks xmlns:a="http://schemas.openxmlformats.org/drawingml/2006/main" noGrp="1"/>
          </p:cNvSpPr>
          <p:nvPr/>
        </p:nvSpPr>
        <p:spPr>
          <a:xfrm xmlns:a="http://schemas.openxmlformats.org/drawingml/2006/main">
            <a:off x="622935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xmlns:a="http://schemas.openxmlformats.org/drawingml/2006/main">
            <a:pPr algn="l">
              <a:buNone/>
              <a:defRPr sz="1725" b="0" i="0">
                <a:solidFill>
                  <a:srgbClr val="FFFFFF"/>
                </a:solidFill>
              </a:defRPr>
            </a:pPr>
            <a:r>
              <a:rPr sz="1725" b="0" i="0">
                <a:solidFill>
                  <a:srgbClr val="FFFFFF"/>
                </a:solidFill>
              </a:rPr>
              <a:t>Results people trust</a:t>
            </a:r>
          </a:p>
        </p:txBody>
      </p:sp>
      <p:sp>
        <p:nvSpPr>
          <p:cNvPr id="10" name="">
            <a:extLst xmlns:a="http://schemas.openxmlformats.org/drawingml/2006/main">
              <a:ext uri="{FF2B5EF4-FFF2-40B4-BE49-F238E27FC236}">
                <a16:creationId xmlns:a16="http://schemas.microsoft.com/office/drawing/2014/main" id="{71815047-46D8-46A0-82D0-975B70A74553}"/>
              </a:ext>
            </a:extLst>
          </p:cNvPr>
          <p:cNvSpPr>
            <a:spLocks xmlns:a="http://schemas.openxmlformats.org/drawingml/2006/main" noGrp="1"/>
          </p:cNvSpPr>
          <p:nvPr/>
        </p:nvSpPr>
        <p:spPr>
          <a:xfrm xmlns:a="http://schemas.openxmlformats.org/drawingml/2006/main">
            <a:off x="723900" y="5391150"/>
            <a:ext cx="77628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xmlns:a="http://schemas.openxmlformats.org/drawingml/2006/main">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p14:creationId xmlns:p14="http://schemas.microsoft.com/office/powerpoint/2010/main" val="20579403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488796-143E-4838-BB66-9457F5AADD9E}"/>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Come fight for what is next</a:t>
            </a:r>
          </a:p>
        </p:txBody>
      </p:sp>
      <p:sp>
        <p:nvSpPr>
          <p:cNvPr id="2" name="">
            <a:extLst xmlns:a="http://schemas.openxmlformats.org/drawingml/2006/main">
              <a:ext uri="{FF2B5EF4-FFF2-40B4-BE49-F238E27FC236}">
                <a16:creationId xmlns:a16="http://schemas.microsoft.com/office/drawing/2014/main" id="{D0FC48C9-D0B7-483B-8A87-01B4F6CC4A25}"/>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14</a:t>
            </a:r>
          </a:p>
        </p:txBody>
      </p:sp>
      <p:sp>
        <p:nvSpPr>
          <p:cNvPr id="3" name="">
            <a:extLst xmlns:a="http://schemas.openxmlformats.org/drawingml/2006/main">
              <a:ext uri="{FF2B5EF4-FFF2-40B4-BE49-F238E27FC236}">
                <a16:creationId xmlns:a16="http://schemas.microsoft.com/office/drawing/2014/main" id="{B89D8437-8108-4C47-9D08-B6DA72524FF5}"/>
              </a:ext>
            </a:extLst>
          </p:cNvPr>
          <p:cNvSpPr>
            <a:spLocks xmlns:a="http://schemas.openxmlformats.org/drawingml/2006/main" noGrp="1"/>
          </p:cNvSpPr>
          <p:nvPr/>
        </p:nvSpPr>
        <p:spPr>
          <a:xfrm xmlns:a="http://schemas.openxmlformats.org/drawingml/2006/main">
            <a:off x="723900" y="2609850"/>
            <a:ext cx="77819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xmlns:a="http://schemas.openxmlformats.org/drawingml/2006/main">
            <a:pPr algn="l">
              <a:buNone/>
              <a:defRPr sz="2100" b="0" i="0">
                <a:solidFill>
                  <a:srgbClr val="FFFFFF"/>
                </a:solidFill>
              </a:defRPr>
            </a:pPr>
            <a:r>
              <a:rPr sz="2100" b="0" i="0">
                <a:solidFill>
                  <a:srgbClr val="FFFFFF"/>
                </a:solidFill>
              </a:rPr>
              <a:t>We are looking for talent across Remington + TKG.</a:t>
            </a:r>
          </a:p>
        </p:txBody>
      </p:sp>
      <p:sp>
        <p:nvSpPr>
          <p:cNvPr id="4" name="">
            <a:extLst xmlns:a="http://schemas.openxmlformats.org/drawingml/2006/main">
              <a:ext uri="{FF2B5EF4-FFF2-40B4-BE49-F238E27FC236}">
                <a16:creationId xmlns:a16="http://schemas.microsoft.com/office/drawing/2014/main" id="{0823013B-9193-466C-B4D6-F2501B7EA23B}"/>
              </a:ext>
            </a:extLst>
          </p:cNvPr>
          <p:cNvSpPr>
            <a:spLocks xmlns:a="http://schemas.openxmlformats.org/drawingml/2006/main" noGrp="1"/>
          </p:cNvSpPr>
          <p:nvPr/>
        </p:nvSpPr>
        <p:spPr>
          <a:xfrm xmlns:a="http://schemas.openxmlformats.org/drawingml/2006/main">
            <a:off x="72390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Mechanical</a:t>
            </a:r>
          </a:p>
        </p:txBody>
      </p:sp>
      <p:sp>
        <p:nvSpPr>
          <p:cNvPr id="5" name="">
            <a:extLst xmlns:a="http://schemas.openxmlformats.org/drawingml/2006/main">
              <a:ext uri="{FF2B5EF4-FFF2-40B4-BE49-F238E27FC236}">
                <a16:creationId xmlns:a16="http://schemas.microsoft.com/office/drawing/2014/main" id="{D0C7D4C3-1873-4FA2-A12E-2328680CCFA0}"/>
              </a:ext>
            </a:extLst>
          </p:cNvPr>
          <p:cNvSpPr>
            <a:spLocks xmlns:a="http://schemas.openxmlformats.org/drawingml/2006/main" noGrp="1"/>
          </p:cNvSpPr>
          <p:nvPr/>
        </p:nvSpPr>
        <p:spPr>
          <a:xfrm xmlns:a="http://schemas.openxmlformats.org/drawingml/2006/main">
            <a:off x="72390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xmlns:a="http://schemas.openxmlformats.org/drawingml/2006/main">
            <a:pPr algn="l">
              <a:buNone/>
              <a:defRPr sz="1650" b="0" i="0">
                <a:solidFill>
                  <a:srgbClr val="FFFFFF"/>
                </a:solidFill>
              </a:defRPr>
            </a:pPr>
            <a:r>
              <a:rPr sz="1650" b="0" i="0">
                <a:solidFill>
                  <a:srgbClr val="FFFFFF"/>
                </a:solidFill>
              </a:rPr>
              <a:t>Equipment that lasts</a:t>
            </a:r>
          </a:p>
        </p:txBody>
      </p:sp>
      <p:sp>
        <p:nvSpPr>
          <p:cNvPr id="6" name="">
            <a:extLst xmlns:a="http://schemas.openxmlformats.org/drawingml/2006/main">
              <a:ext uri="{FF2B5EF4-FFF2-40B4-BE49-F238E27FC236}">
                <a16:creationId xmlns:a16="http://schemas.microsoft.com/office/drawing/2014/main" id="{3EBAAE2A-FCF5-4D51-86AE-6AA31A5CD58F}"/>
              </a:ext>
            </a:extLst>
          </p:cNvPr>
          <p:cNvSpPr>
            <a:spLocks xmlns:a="http://schemas.openxmlformats.org/drawingml/2006/main" noGrp="1"/>
          </p:cNvSpPr>
          <p:nvPr/>
        </p:nvSpPr>
        <p:spPr>
          <a:xfrm xmlns:a="http://schemas.openxmlformats.org/drawingml/2006/main">
            <a:off x="485775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Controls</a:t>
            </a:r>
          </a:p>
        </p:txBody>
      </p:sp>
      <p:sp>
        <p:nvSpPr>
          <p:cNvPr id="7" name="">
            <a:extLst xmlns:a="http://schemas.openxmlformats.org/drawingml/2006/main">
              <a:ext uri="{FF2B5EF4-FFF2-40B4-BE49-F238E27FC236}">
                <a16:creationId xmlns:a16="http://schemas.microsoft.com/office/drawing/2014/main" id="{BFBA7D01-0D9F-4F08-92C7-274929419204}"/>
              </a:ext>
            </a:extLst>
          </p:cNvPr>
          <p:cNvSpPr>
            <a:spLocks xmlns:a="http://schemas.openxmlformats.org/drawingml/2006/main" noGrp="1"/>
          </p:cNvSpPr>
          <p:nvPr/>
        </p:nvSpPr>
        <p:spPr>
          <a:xfrm xmlns:a="http://schemas.openxmlformats.org/drawingml/2006/main">
            <a:off x="485775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xmlns:a="http://schemas.openxmlformats.org/drawingml/2006/main">
            <a:pPr algn="l">
              <a:buNone/>
              <a:defRPr sz="1650" b="0" i="0">
                <a:solidFill>
                  <a:srgbClr val="FFFFFF"/>
                </a:solidFill>
              </a:defRPr>
            </a:pPr>
            <a:r>
              <a:rPr sz="1650" b="0" i="0">
                <a:solidFill>
                  <a:srgbClr val="FFFFFF"/>
                </a:solidFill>
              </a:rPr>
              <a:t>Reliable response</a:t>
            </a:r>
          </a:p>
        </p:txBody>
      </p:sp>
      <p:sp>
        <p:nvSpPr>
          <p:cNvPr id="8" name="">
            <a:extLst xmlns:a="http://schemas.openxmlformats.org/drawingml/2006/main">
              <a:ext uri="{FF2B5EF4-FFF2-40B4-BE49-F238E27FC236}">
                <a16:creationId xmlns:a16="http://schemas.microsoft.com/office/drawing/2014/main" id="{13F962AE-A9AA-4D93-9C57-58AC8180D812}"/>
              </a:ext>
            </a:extLst>
          </p:cNvPr>
          <p:cNvSpPr>
            <a:spLocks xmlns:a="http://schemas.openxmlformats.org/drawingml/2006/main" noGrp="1"/>
          </p:cNvSpPr>
          <p:nvPr/>
        </p:nvSpPr>
        <p:spPr>
          <a:xfrm xmlns:a="http://schemas.openxmlformats.org/drawingml/2006/main">
            <a:off x="72390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Software</a:t>
            </a:r>
          </a:p>
        </p:txBody>
      </p:sp>
      <p:sp>
        <p:nvSpPr>
          <p:cNvPr id="9" name="">
            <a:extLst xmlns:a="http://schemas.openxmlformats.org/drawingml/2006/main">
              <a:ext uri="{FF2B5EF4-FFF2-40B4-BE49-F238E27FC236}">
                <a16:creationId xmlns:a16="http://schemas.microsoft.com/office/drawing/2014/main" id="{D92FFE5F-371B-4111-96BB-F3AD24F5FC63}"/>
              </a:ext>
            </a:extLst>
          </p:cNvPr>
          <p:cNvSpPr>
            <a:spLocks xmlns:a="http://schemas.openxmlformats.org/drawingml/2006/main" noGrp="1"/>
          </p:cNvSpPr>
          <p:nvPr/>
        </p:nvSpPr>
        <p:spPr>
          <a:xfrm xmlns:a="http://schemas.openxmlformats.org/drawingml/2006/main">
            <a:off x="72390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xmlns:a="http://schemas.openxmlformats.org/drawingml/2006/main">
            <a:pPr algn="l">
              <a:buNone/>
              <a:defRPr sz="1650" b="0" i="0">
                <a:solidFill>
                  <a:srgbClr val="FFFFFF"/>
                </a:solidFill>
              </a:defRPr>
            </a:pPr>
            <a:r>
              <a:rPr sz="1650" b="0" i="0">
                <a:solidFill>
                  <a:srgbClr val="FFFFFF"/>
                </a:solidFill>
              </a:rPr>
              <a:t>Tools for the floor</a:t>
            </a:r>
          </a:p>
        </p:txBody>
      </p:sp>
      <p:sp>
        <p:nvSpPr>
          <p:cNvPr id="10" name="">
            <a:extLst xmlns:a="http://schemas.openxmlformats.org/drawingml/2006/main">
              <a:ext uri="{FF2B5EF4-FFF2-40B4-BE49-F238E27FC236}">
                <a16:creationId xmlns:a16="http://schemas.microsoft.com/office/drawing/2014/main" id="{A2434492-DCB7-4E66-848A-AF3250C4A971}"/>
              </a:ext>
            </a:extLst>
          </p:cNvPr>
          <p:cNvSpPr>
            <a:spLocks xmlns:a="http://schemas.openxmlformats.org/drawingml/2006/main" noGrp="1"/>
          </p:cNvSpPr>
          <p:nvPr/>
        </p:nvSpPr>
        <p:spPr>
          <a:xfrm xmlns:a="http://schemas.openxmlformats.org/drawingml/2006/main">
            <a:off x="485775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Testing</a:t>
            </a:r>
          </a:p>
        </p:txBody>
      </p:sp>
      <p:sp>
        <p:nvSpPr>
          <p:cNvPr id="11" name="">
            <a:extLst xmlns:a="http://schemas.openxmlformats.org/drawingml/2006/main">
              <a:ext uri="{FF2B5EF4-FFF2-40B4-BE49-F238E27FC236}">
                <a16:creationId xmlns:a16="http://schemas.microsoft.com/office/drawing/2014/main" id="{B81A4699-8816-4D03-8B22-0008C50E864E}"/>
              </a:ext>
            </a:extLst>
          </p:cNvPr>
          <p:cNvSpPr>
            <a:spLocks xmlns:a="http://schemas.openxmlformats.org/drawingml/2006/main" noGrp="1"/>
          </p:cNvSpPr>
          <p:nvPr/>
        </p:nvSpPr>
        <p:spPr>
          <a:xfrm xmlns:a="http://schemas.openxmlformats.org/drawingml/2006/main">
            <a:off x="485775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xmlns:a="http://schemas.openxmlformats.org/drawingml/2006/main">
            <a:pPr algn="l">
              <a:buNone/>
              <a:defRPr sz="1650" b="0" i="0">
                <a:solidFill>
                  <a:srgbClr val="FFFFFF"/>
                </a:solidFill>
              </a:defRPr>
            </a:pPr>
            <a:r>
              <a:rPr sz="1650" b="0" i="0">
                <a:solidFill>
                  <a:srgbClr val="FFFFFF"/>
                </a:solidFill>
              </a:rPr>
              <a:t>Proof in real conditions</a:t>
            </a:r>
          </a:p>
        </p:txBody>
      </p:sp>
      <p:sp>
        <p:nvSpPr>
          <p:cNvPr id="12" name="">
            <a:extLst xmlns:a="http://schemas.openxmlformats.org/drawingml/2006/main">
              <a:ext uri="{FF2B5EF4-FFF2-40B4-BE49-F238E27FC236}">
                <a16:creationId xmlns:a16="http://schemas.microsoft.com/office/drawing/2014/main" id="{3B588707-684F-4381-B976-459C0396BABD}"/>
              </a:ext>
            </a:extLst>
          </p:cNvPr>
          <p:cNvSpPr>
            <a:spLocks xmlns:a="http://schemas.openxmlformats.org/drawingml/2006/main" noGrp="1"/>
          </p:cNvSpPr>
          <p:nvPr/>
        </p:nvSpPr>
        <p:spPr>
          <a:xfrm xmlns:a="http://schemas.openxmlformats.org/drawingml/2006/main">
            <a:off x="723900" y="5695950"/>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xmlns:a="http://schemas.openxmlformats.org/drawingml/2006/main">
            <a:pPr algn="l">
              <a:buNone/>
              <a:defRPr sz="2250" b="1" i="0">
                <a:solidFill>
                  <a:srgbClr val="FFFFFF"/>
                </a:solidFill>
              </a:defRPr>
            </a:pPr>
            <a:r>
              <a:rPr sz="2250" b="1" i="0">
                <a:solidFill>
                  <a:srgbClr val="FFFFFF"/>
                </a:solidFill>
              </a:rPr>
              <a:t>Tell us what you want to build next.</a:t>
            </a:r>
          </a:p>
        </p:txBody>
      </p:sp>
    </p:spTree>
    <p:extLst>
      <p:ext uri="{BB962C8B-B14F-4D97-AF65-F5344CB8AC3E}">
        <p14:creationId xmlns:p14="http://schemas.microsoft.com/office/powerpoint/2010/main" val="170402279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7C6A6B-6B23-40C0-AEE8-90C1BFAE7CE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4Founders challenge</a:t>
            </a:r>
          </a:p>
        </p:txBody>
      </p:sp>
      <p:sp>
        <p:nvSpPr>
          <p:cNvPr id="2" name="">
            <a:extLst xmlns:a="http://schemas.openxmlformats.org/drawingml/2006/main">
              <a:ext uri="{FF2B5EF4-FFF2-40B4-BE49-F238E27FC236}">
                <a16:creationId xmlns:a16="http://schemas.microsoft.com/office/drawing/2014/main" id="{EDC48AD8-F7C5-412A-8DC6-42D0167FFA0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15</a:t>
            </a:r>
          </a:p>
        </p:txBody>
      </p:sp>
      <p:sp>
        <p:nvSpPr>
          <p:cNvPr id="3" name="">
            <a:extLst xmlns:a="http://schemas.openxmlformats.org/drawingml/2006/main">
              <a:ext uri="{FF2B5EF4-FFF2-40B4-BE49-F238E27FC236}">
                <a16:creationId xmlns:a16="http://schemas.microsoft.com/office/drawing/2014/main" id="{E76D5AFE-7436-4C33-9D1D-D8D4182FDCF0}"/>
              </a:ext>
            </a:extLst>
          </p:cNvPr>
          <p:cNvSpPr>
            <a:spLocks xmlns:a="http://schemas.openxmlformats.org/drawingml/2006/main" noGrp="1"/>
          </p:cNvSpPr>
          <p:nvPr/>
        </p:nvSpPr>
        <p:spPr>
          <a:xfrm xmlns:a="http://schemas.openxmlformats.org/drawingml/2006/main">
            <a:off x="723900" y="287655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xmlns:a="http://schemas.openxmlformats.org/drawingml/2006/main">
            <a:pPr algn="l">
              <a:buNone/>
              <a:defRPr sz="3225" b="1" i="0">
                <a:solidFill>
                  <a:srgbClr val="FFFFFF"/>
                </a:solidFill>
              </a:defRPr>
            </a:pPr>
            <a:r>
              <a:rPr sz="3225" b="1" i="0">
                <a:solidFill>
                  <a:srgbClr val="FFFFFF"/>
                </a:solidFill>
              </a:rPr>
              <a:t>Try it yourself</a:t>
            </a:r>
          </a:p>
        </p:txBody>
      </p:sp>
      <p:sp>
        <p:nvSpPr>
          <p:cNvPr id="4" name="">
            <a:extLst xmlns:a="http://schemas.openxmlformats.org/drawingml/2006/main">
              <a:ext uri="{FF2B5EF4-FFF2-40B4-BE49-F238E27FC236}">
                <a16:creationId xmlns:a16="http://schemas.microsoft.com/office/drawing/2014/main" id="{BA074521-D12E-4C92-96A7-2ED041BE9680}"/>
              </a:ext>
            </a:extLst>
          </p:cNvPr>
          <p:cNvSpPr>
            <a:spLocks xmlns:a="http://schemas.openxmlformats.org/drawingml/2006/main" noGrp="1"/>
          </p:cNvSpPr>
          <p:nvPr/>
        </p:nvSpPr>
        <p:spPr>
          <a:xfrm xmlns:a="http://schemas.openxmlformats.org/drawingml/2006/main">
            <a:off x="723900" y="5295900"/>
            <a:ext cx="4819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xmlns:a="http://schemas.openxmlformats.org/drawingml/2006/main">
            <a:pPr algn="l">
              <a:buNone/>
              <a:defRPr sz="1875" b="0" i="0">
                <a:solidFill>
                  <a:srgbClr val="BEA06A"/>
                </a:solidFill>
              </a:defRPr>
            </a:pPr>
            <a:r>
              <a:rPr sz="1875" b="0" i="0">
                <a:solidFill>
                  <a:srgbClr val="BEA06A"/>
                </a:solidFill>
              </a:rPr>
              <a:t>4founders.dev/demo/ai-in-action/</a:t>
            </a:r>
          </a:p>
        </p:txBody>
      </p:sp>
      <p:pic>
        <p:nvPicPr>
          <p:cNvPr id="5" name="">
            <a:extLst xmlns:a="http://schemas.openxmlformats.org/drawingml/2006/main">
              <a:ext uri="{FF2B5EF4-FFF2-40B4-BE49-F238E27FC236}">
                <a16:creationId xmlns:a16="http://schemas.microsoft.com/office/drawing/2014/main" id="{17A57D48-9186-4AB0-A73C-9A9F9454AD3D}"/>
              </a:ext>
            </a:extLst>
          </p:cNvPr>
          <p:cNvPicPr>
            <a:picLocks xmlns:a="http://schemas.openxmlformats.org/drawingml/2006/main" noChangeAspect="1"/>
          </p:cNvPicPr>
          <p:nvPr/>
        </p:nvPicPr>
        <p:blipFill>
          <a:blip xmlns:r="http://schemas.openxmlformats.org/officeDocument/2006/relationships" xmlns:a="http://schemas.openxmlformats.org/drawingml/2006/main" r:embed="R8fedd732672d4a84"/>
          <a:stretch xmlns:a="http://schemas.openxmlformats.org/drawingml/2006/main"/>
        </p:blipFill>
        <p:spPr>
          <a:xfrm xmlns:a="http://schemas.openxmlformats.org/drawingml/2006/main">
            <a:off x="5753100" y="2590800"/>
            <a:ext cx="2466975" cy="2466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A967C52-65BE-4CF8-A216-CA089985A1E8}"/>
              </a:ext>
            </a:extLst>
          </p:cNvPr>
          <p:cNvSpPr>
            <a:spLocks xmlns:a="http://schemas.openxmlformats.org/drawingml/2006/main" noGrp="1"/>
          </p:cNvSpPr>
          <p:nvPr/>
        </p:nvSpPr>
        <p:spPr>
          <a:xfrm xmlns:a="http://schemas.openxmlformats.org/drawingml/2006/main">
            <a:off x="5762625" y="5429250"/>
            <a:ext cx="27622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xmlns:a="http://schemas.openxmlformats.org/drawingml/2006/main">
            <a:pPr algn="l">
              <a:buNone/>
              <a:defRPr sz="3450" b="1" i="0">
                <a:solidFill>
                  <a:srgbClr val="FFFFFF"/>
                </a:solidFill>
              </a:defRPr>
            </a:pPr>
            <a:r>
              <a:rPr sz="3450" b="1" i="0">
                <a:solidFill>
                  <a:srgbClr val="FFFFFF"/>
                </a:solidFill>
              </a:rPr>
              <a:t>877262</a:t>
            </a:r>
          </a:p>
        </p:txBody>
      </p:sp>
      <p:sp>
        <p:nvSpPr>
          <p:cNvPr id="8" name="">
            <a:extLst xmlns:a="http://schemas.openxmlformats.org/drawingml/2006/main">
              <a:ext uri="{FF2B5EF4-FFF2-40B4-BE49-F238E27FC236}">
                <a16:creationId xmlns:a16="http://schemas.microsoft.com/office/drawing/2014/main" id="{7344E057-B53A-4742-A1BE-84D64E78BC78}"/>
              </a:ext>
            </a:extLst>
          </p:cNvPr>
          <p:cNvSpPr>
            <a:spLocks xmlns:a="http://schemas.openxmlformats.org/drawingml/2006/main" noGrp="1"/>
          </p:cNvSpPr>
          <p:nvPr/>
        </p:nvSpPr>
        <p:spPr>
          <a:xfrm xmlns:a="http://schemas.openxmlformats.org/drawingml/2006/main">
            <a:off x="5762625" y="51244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xmlns:a="http://schemas.openxmlformats.org/drawingml/2006/main">
            <a:pPr algn="l">
              <a:defRPr sz="1575" b="1" i="0">
                <a:solidFill>
                  <a:srgbClr val="BEA06A"/>
                </a:solidFill>
              </a:defRPr>
            </a:pPr>
            <a:r>
              <a:rPr sz="1575" b="1" i="0">
                <a:solidFill>
                  <a:srgbClr val="BEA06A"/>
                </a:solidFill>
              </a:rPr>
              <a:t>EVENT PIN</a:t>
            </a:r>
          </a:p>
        </p:txBody>
      </p:sp>
    </p:spTree>
    <p:extLst>
      <p:ext uri="{BB962C8B-B14F-4D97-AF65-F5344CB8AC3E}">
        <p14:creationId xmlns:p14="http://schemas.microsoft.com/office/powerpoint/2010/main" val="2365625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7DA5FD-739D-4644-9148-F19D032919FA}"/>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Bring us your idea</a:t>
            </a:r>
          </a:p>
        </p:txBody>
      </p:sp>
      <p:sp>
        <p:nvSpPr>
          <p:cNvPr id="2" name="">
            <a:extLst xmlns:a="http://schemas.openxmlformats.org/drawingml/2006/main">
              <a:ext uri="{FF2B5EF4-FFF2-40B4-BE49-F238E27FC236}">
                <a16:creationId xmlns:a16="http://schemas.microsoft.com/office/drawing/2014/main" id="{BF7AB287-9579-4376-952A-319BD45DDE16}"/>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16</a:t>
            </a:r>
          </a:p>
        </p:txBody>
      </p:sp>
      <p:sp>
        <p:nvSpPr>
          <p:cNvPr id="3" name="">
            <a:extLst xmlns:a="http://schemas.openxmlformats.org/drawingml/2006/main">
              <a:ext uri="{FF2B5EF4-FFF2-40B4-BE49-F238E27FC236}">
                <a16:creationId xmlns:a16="http://schemas.microsoft.com/office/drawing/2014/main" id="{56E2B49B-822B-4239-9D3F-90141AA845C0}"/>
              </a:ext>
            </a:extLst>
          </p:cNvPr>
          <p:cNvSpPr>
            <a:spLocks xmlns:a="http://schemas.openxmlformats.org/drawingml/2006/main" noGrp="1"/>
          </p:cNvSpPr>
          <p:nvPr/>
        </p:nvSpPr>
        <p:spPr>
          <a:xfrm xmlns:a="http://schemas.openxmlformats.org/drawingml/2006/main">
            <a:off x="723900" y="2895600"/>
            <a:ext cx="7924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450" b="1" i="0">
                <a:solidFill>
                  <a:srgbClr val="FFFFFF"/>
                </a:solidFill>
              </a:defRPr>
            </a:defPPr>
            <a:lvl1pPr algn="l">
              <a:buNone/>
              <a:defRPr sz="3450" b="1" i="0">
                <a:solidFill>
                  <a:srgbClr val="FFFFFF"/>
                </a:solidFill>
              </a:defRPr>
            </a:lvl1pPr>
            <a:lvl2pPr algn="l">
              <a:buNone/>
              <a:defRPr sz="3450" b="1" i="0">
                <a:solidFill>
                  <a:srgbClr val="FFFFFF"/>
                </a:solidFill>
              </a:defRPr>
            </a:lvl2pPr>
            <a:lvl3pPr algn="l">
              <a:buNone/>
              <a:defRPr sz="3450" b="1" i="0">
                <a:solidFill>
                  <a:srgbClr val="FFFFFF"/>
                </a:solidFill>
              </a:defRPr>
            </a:lvl3pPr>
            <a:lvl4pPr algn="l">
              <a:buNone/>
              <a:defRPr sz="3450" b="1" i="0">
                <a:solidFill>
                  <a:srgbClr val="FFFFFF"/>
                </a:solidFill>
              </a:defRPr>
            </a:lvl4pPr>
            <a:lvl5pPr algn="l">
              <a:buNone/>
              <a:defRPr sz="3450" b="1" i="0">
                <a:solidFill>
                  <a:srgbClr val="FFFFFF"/>
                </a:solidFill>
              </a:defRPr>
            </a:lvl5pPr>
            <a:lvl6pPr algn="l">
              <a:buNone/>
              <a:defRPr sz="3450" b="1" i="0">
                <a:solidFill>
                  <a:srgbClr val="FFFFFF"/>
                </a:solidFill>
              </a:defRPr>
            </a:lvl6pPr>
            <a:lvl7pPr algn="l">
              <a:buNone/>
              <a:defRPr sz="3450" b="1" i="0">
                <a:solidFill>
                  <a:srgbClr val="FFFFFF"/>
                </a:solidFill>
              </a:defRPr>
            </a:lvl7pPr>
            <a:lvl8pPr algn="l">
              <a:buNone/>
              <a:defRPr sz="3450" b="1" i="0">
                <a:solidFill>
                  <a:srgbClr val="FFFFFF"/>
                </a:solidFill>
              </a:defRPr>
            </a:lvl8pPr>
            <a:lvl9pPr algn="l">
              <a:buNone/>
              <a:defRPr sz="3450" b="1" i="0">
                <a:solidFill>
                  <a:srgbClr val="FFFFFF"/>
                </a:solidFill>
              </a:defRPr>
            </a:lvl9pPr>
          </a:lstStyle>
          <a:p xmlns:a="http://schemas.openxmlformats.org/drawingml/2006/main">
            <a:pPr algn="l">
              <a:buNone/>
              <a:defRPr sz="3450" b="1" i="0">
                <a:solidFill>
                  <a:srgbClr val="FFFFFF"/>
                </a:solidFill>
              </a:defRPr>
            </a:pPr>
            <a:r>
              <a:rPr sz="3450" b="1" i="0">
                <a:solidFill>
                  <a:srgbClr val="FFFFFF"/>
                </a:solidFill>
              </a:rPr>
              <a:t>What do you want to pursue?</a:t>
            </a:r>
          </a:p>
        </p:txBody>
      </p:sp>
      <p:sp>
        <p:nvSpPr>
          <p:cNvPr id="4" name="">
            <a:extLst xmlns:a="http://schemas.openxmlformats.org/drawingml/2006/main">
              <a:ext uri="{FF2B5EF4-FFF2-40B4-BE49-F238E27FC236}">
                <a16:creationId xmlns:a16="http://schemas.microsoft.com/office/drawing/2014/main" id="{4CFBB8BB-8520-4CA8-A41E-07E3DB8946B4}"/>
              </a:ext>
            </a:extLst>
          </p:cNvPr>
          <p:cNvSpPr>
            <a:spLocks xmlns:a="http://schemas.openxmlformats.org/drawingml/2006/main" noGrp="1"/>
          </p:cNvSpPr>
          <p:nvPr/>
        </p:nvSpPr>
        <p:spPr>
          <a:xfrm xmlns:a="http://schemas.openxmlformats.org/drawingml/2006/main">
            <a:off x="723900" y="4114800"/>
            <a:ext cx="7848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D5D8DA"/>
                </a:solidFill>
              </a:defRPr>
            </a:defPPr>
            <a:lvl1pPr algn="l">
              <a:buNone/>
              <a:defRPr sz="2100" b="0" i="0">
                <a:solidFill>
                  <a:srgbClr val="D5D8DA"/>
                </a:solidFill>
              </a:defRPr>
            </a:lvl1pPr>
            <a:lvl2pPr algn="l">
              <a:buNone/>
              <a:defRPr sz="2100" b="0" i="0">
                <a:solidFill>
                  <a:srgbClr val="D5D8DA"/>
                </a:solidFill>
              </a:defRPr>
            </a:lvl2pPr>
            <a:lvl3pPr algn="l">
              <a:buNone/>
              <a:defRPr sz="2100" b="0" i="0">
                <a:solidFill>
                  <a:srgbClr val="D5D8DA"/>
                </a:solidFill>
              </a:defRPr>
            </a:lvl3pPr>
            <a:lvl4pPr algn="l">
              <a:buNone/>
              <a:defRPr sz="2100" b="0" i="0">
                <a:solidFill>
                  <a:srgbClr val="D5D8DA"/>
                </a:solidFill>
              </a:defRPr>
            </a:lvl4pPr>
            <a:lvl5pPr algn="l">
              <a:buNone/>
              <a:defRPr sz="2100" b="0" i="0">
                <a:solidFill>
                  <a:srgbClr val="D5D8DA"/>
                </a:solidFill>
              </a:defRPr>
            </a:lvl5pPr>
            <a:lvl6pPr algn="l">
              <a:buNone/>
              <a:defRPr sz="2100" b="0" i="0">
                <a:solidFill>
                  <a:srgbClr val="D5D8DA"/>
                </a:solidFill>
              </a:defRPr>
            </a:lvl6pPr>
            <a:lvl7pPr algn="l">
              <a:buNone/>
              <a:defRPr sz="2100" b="0" i="0">
                <a:solidFill>
                  <a:srgbClr val="D5D8DA"/>
                </a:solidFill>
              </a:defRPr>
            </a:lvl7pPr>
            <a:lvl8pPr algn="l">
              <a:buNone/>
              <a:defRPr sz="2100" b="0" i="0">
                <a:solidFill>
                  <a:srgbClr val="D5D8DA"/>
                </a:solidFill>
              </a:defRPr>
            </a:lvl8pPr>
            <a:lvl9pPr algn="l">
              <a:buNone/>
              <a:defRPr sz="2100" b="0" i="0">
                <a:solidFill>
                  <a:srgbClr val="D5D8DA"/>
                </a:solidFill>
              </a:defRPr>
            </a:lvl9pPr>
          </a:lstStyle>
          <a:p xmlns:a="http://schemas.openxmlformats.org/drawingml/2006/main">
            <a:pPr algn="l">
              <a:buNone/>
              <a:defRPr sz="2100" b="0" i="0">
                <a:solidFill>
                  <a:srgbClr val="D5D8DA"/>
                </a:solidFill>
              </a:defRPr>
            </a:pPr>
            <a:r>
              <a:rPr sz="2100" b="0" i="0">
                <a:solidFill>
                  <a:srgbClr val="D5D8DA"/>
                </a:solidFill>
              </a:rPr>
              <a:t>If there is a fit, let us explore it together.</a:t>
            </a:r>
          </a:p>
        </p:txBody>
      </p:sp>
      <p:sp>
        <p:nvSpPr>
          <p:cNvPr id="5" name="">
            <a:extLst xmlns:a="http://schemas.openxmlformats.org/drawingml/2006/main">
              <a:ext uri="{FF2B5EF4-FFF2-40B4-BE49-F238E27FC236}">
                <a16:creationId xmlns:a16="http://schemas.microsoft.com/office/drawing/2014/main" id="{1596F5A7-D059-44DA-A1C5-74978F5E65C4}"/>
              </a:ext>
            </a:extLst>
          </p:cNvPr>
          <p:cNvSpPr>
            <a:spLocks xmlns:a="http://schemas.openxmlformats.org/drawingml/2006/main" noGrp="1"/>
          </p:cNvSpPr>
          <p:nvPr/>
        </p:nvSpPr>
        <p:spPr>
          <a:xfrm xmlns:a="http://schemas.openxmlformats.org/drawingml/2006/main">
            <a:off x="723900" y="5210175"/>
            <a:ext cx="7905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Let's start a conversation.</a:t>
            </a:r>
          </a:p>
        </p:txBody>
      </p:sp>
    </p:spTree>
    <p:extLst>
      <p:ext uri="{BB962C8B-B14F-4D97-AF65-F5344CB8AC3E}">
        <p14:creationId xmlns:p14="http://schemas.microsoft.com/office/powerpoint/2010/main" val="5065774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0EA59-117A-4064-B427-87EE54602873}"/>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Let us connect</a:t>
            </a:r>
          </a:p>
        </p:txBody>
      </p:sp>
      <p:sp>
        <p:nvSpPr>
          <p:cNvPr id="2" name="">
            <a:extLst xmlns:a="http://schemas.openxmlformats.org/drawingml/2006/main">
              <a:ext uri="{FF2B5EF4-FFF2-40B4-BE49-F238E27FC236}">
                <a16:creationId xmlns:a16="http://schemas.microsoft.com/office/drawing/2014/main" id="{724A516E-5F40-4047-8050-494D3EE1695A}"/>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17</a:t>
            </a:r>
          </a:p>
        </p:txBody>
      </p:sp>
      <p:sp>
        <p:nvSpPr>
          <p:cNvPr id="3" name="">
            <a:extLst xmlns:a="http://schemas.openxmlformats.org/drawingml/2006/main">
              <a:ext uri="{FF2B5EF4-FFF2-40B4-BE49-F238E27FC236}">
                <a16:creationId xmlns:a16="http://schemas.microsoft.com/office/drawing/2014/main" id="{2D7D6113-0669-421B-A999-C7953240D470}"/>
              </a:ext>
            </a:extLst>
          </p:cNvPr>
          <p:cNvSpPr>
            <a:spLocks xmlns:a="http://schemas.openxmlformats.org/drawingml/2006/main" noGrp="1"/>
          </p:cNvSpPr>
          <p:nvPr/>
        </p:nvSpPr>
        <p:spPr>
          <a:xfrm xmlns:a="http://schemas.openxmlformats.org/drawingml/2006/main">
            <a:off x="723900" y="2524125"/>
            <a:ext cx="7791450"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xmlns:a="http://schemas.openxmlformats.org/drawingml/2006/main">
            <a:pPr algn="l">
              <a:buNone/>
              <a:defRPr sz="2775" b="1" i="1">
                <a:solidFill>
                  <a:srgbClr val="FFFFFF"/>
                </a:solidFill>
              </a:defRPr>
            </a:pPr>
            <a:r>
              <a:rPr sz="2775" b="1" i="1">
                <a:solidFill>
                  <a:srgbClr val="FFFFFF"/>
                </a:solidFill>
              </a:rPr>
              <a:t>Our history was made on the factory floor.</a:t>
            </a:r>
          </a:p>
          <a:p xmlns:a="http://schemas.openxmlformats.org/drawingml/2006/main">
            <a:pPr algn="l">
              <a:buNone/>
              <a:defRPr sz="2775" b="1" i="1">
                <a:solidFill>
                  <a:srgbClr val="FFFFFF"/>
                </a:solidFill>
              </a:defRPr>
            </a:pPr>
            <a:r>
              <a:rPr sz="2775" b="1" i="1">
                <a:solidFill>
                  <a:srgbClr val="FFFFFF"/>
                </a:solidFill>
              </a:rPr>
              <a:t>The future will be, too.</a:t>
            </a:r>
          </a:p>
        </p:txBody>
      </p:sp>
      <p:sp>
        <p:nvSpPr>
          <p:cNvPr id="4" name="">
            <a:extLst xmlns:a="http://schemas.openxmlformats.org/drawingml/2006/main">
              <a:ext uri="{FF2B5EF4-FFF2-40B4-BE49-F238E27FC236}">
                <a16:creationId xmlns:a16="http://schemas.microsoft.com/office/drawing/2014/main" id="{584ED998-33A3-4E85-8F9C-EEE9F5227F16}"/>
              </a:ext>
            </a:extLst>
          </p:cNvPr>
          <p:cNvSpPr>
            <a:spLocks xmlns:a="http://schemas.openxmlformats.org/drawingml/2006/main" noGrp="1"/>
          </p:cNvSpPr>
          <p:nvPr/>
        </p:nvSpPr>
        <p:spPr>
          <a:xfrm xmlns:a="http://schemas.openxmlformats.org/drawingml/2006/main">
            <a:off x="723900" y="3733800"/>
            <a:ext cx="7791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xmlns:a="http://schemas.openxmlformats.org/drawingml/2006/main">
            <a:pPr algn="l">
              <a:buNone/>
              <a:defRPr sz="2100" b="1" i="0">
                <a:solidFill>
                  <a:srgbClr val="BEA06A"/>
                </a:solidFill>
              </a:defRPr>
            </a:pPr>
            <a:r>
              <a:rPr sz="2100" b="1" i="0">
                <a:solidFill>
                  <a:srgbClr val="BEA06A"/>
                </a:solidFill>
              </a:rPr>
              <a:t>Come build and fight with us. Turn AI into action.</a:t>
            </a:r>
          </a:p>
        </p:txBody>
      </p:sp>
      <p:sp>
        <p:nvSpPr>
          <p:cNvPr id="6" name="">
            <a:extLst xmlns:a="http://schemas.openxmlformats.org/drawingml/2006/main">
              <a:ext uri="{FF2B5EF4-FFF2-40B4-BE49-F238E27FC236}">
                <a16:creationId xmlns:a16="http://schemas.microsoft.com/office/drawing/2014/main" id="{CF15CE39-03ED-485E-A3C8-874F0117C19A}"/>
              </a:ext>
            </a:extLst>
          </p:cNvPr>
          <p:cNvSpPr>
            <a:spLocks xmlns:a="http://schemas.openxmlformats.org/drawingml/2006/main" noGrp="1"/>
          </p:cNvSpPr>
          <p:nvPr/>
        </p:nvSpPr>
        <p:spPr>
          <a:xfrm xmlns:a="http://schemas.openxmlformats.org/drawingml/2006/main">
            <a:off x="914400" y="5057775"/>
            <a:ext cx="7315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xmlns:a="http://schemas.openxmlformats.org/drawingml/2006/main">
            <a:pPr algn="ctr">
              <a:buNone/>
              <a:defRPr sz="2600" b="1" i="0">
                <a:solidFill>
                  <a:srgbClr val="FFFFFF"/>
                </a:solidFill>
              </a:defRPr>
            </a:pPr>
            <a:r>
              <a:rPr sz="2600" b="1" i="0">
                <a:solidFill>
                  <a:srgbClr val="FFFFFF"/>
                </a:solidFill>
              </a:rPr>
              <a:t>awhite@tkghunt.com</a:t>
            </a:r>
          </a:p>
        </p:txBody>
      </p:sp>
    </p:spTree>
    <p:extLst>
      <p:ext uri="{BB962C8B-B14F-4D97-AF65-F5344CB8AC3E}">
        <p14:creationId xmlns:p14="http://schemas.microsoft.com/office/powerpoint/2010/main" val="526665785"/>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